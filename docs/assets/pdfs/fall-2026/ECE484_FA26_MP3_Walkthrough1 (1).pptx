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1" r:id="rId4"/>
    <p:sldId id="268" r:id="rId5"/>
    <p:sldId id="272" r:id="rId6"/>
    <p:sldId id="269" r:id="rId7"/>
    <p:sldId id="276" r:id="rId8"/>
    <p:sldId id="277" r:id="rId9"/>
    <p:sldId id="278" r:id="rId10"/>
    <p:sldId id="279" r:id="rId11"/>
    <p:sldId id="280" r:id="rId12"/>
    <p:sldId id="260" r:id="rId13"/>
    <p:sldId id="261" r:id="rId14"/>
    <p:sldId id="273" r:id="rId15"/>
    <p:sldId id="274" r:id="rId16"/>
    <p:sldId id="265" r:id="rId17"/>
    <p:sldId id="266" r:id="rId18"/>
    <p:sldId id="267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42" dt="2026-10-16T01:36:58.072"/>
    <p1510:client id="{2330AB56-3909-469E-93B5-4CD1C95053D0}" v="983" dt="2026-10-16T03:56:08.926"/>
    <p1510:client id="{441400AB-B36B-0140-A06D-DA532E278D70}" v="145" dt="2026-10-16T03:45:15.209"/>
    <p1510:client id="{69A56A08-ED16-926B-2CB2-FAB5F5304D5E}" v="1198" dt="2026-10-16T02:08:20.21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6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6_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KF position belief</c:v>
                </c:pt>
              </c:strCache>
            </c:strRef>
          </c:tx>
          <c:spPr>
            <a:ln w="31750">
              <a:solidFill>
                <a:srgbClr val="1F6FD1"/>
              </a:solidFill>
            </a:ln>
          </c:spPr>
          <c:marker>
            <c:symbol val="none"/>
          </c:marker>
          <c:xVal>
            <c:numRef>
              <c:f>Sheet1!$A$2:$A$62</c:f>
              <c:numCache>
                <c:formatCode>General</c:formatCode>
                <c:ptCount val="61"/>
                <c:pt idx="0">
                  <c:v>-1</c:v>
                </c:pt>
                <c:pt idx="1">
                  <c:v>-0.96666666666666667</c:v>
                </c:pt>
                <c:pt idx="2">
                  <c:v>-0.93333333333333335</c:v>
                </c:pt>
                <c:pt idx="3">
                  <c:v>-0.9</c:v>
                </c:pt>
                <c:pt idx="4">
                  <c:v>-0.8666666666666667</c:v>
                </c:pt>
                <c:pt idx="5">
                  <c:v>-0.83333333333333337</c:v>
                </c:pt>
                <c:pt idx="6">
                  <c:v>-0.8</c:v>
                </c:pt>
                <c:pt idx="7">
                  <c:v>-0.76666666666666661</c:v>
                </c:pt>
                <c:pt idx="8">
                  <c:v>-0.73333333333333339</c:v>
                </c:pt>
                <c:pt idx="9">
                  <c:v>-0.7</c:v>
                </c:pt>
                <c:pt idx="10">
                  <c:v>-0.66666666666666674</c:v>
                </c:pt>
                <c:pt idx="11">
                  <c:v>-0.6333333333333333</c:v>
                </c:pt>
                <c:pt idx="12">
                  <c:v>-0.6</c:v>
                </c:pt>
                <c:pt idx="13">
                  <c:v>-0.56666666666666665</c:v>
                </c:pt>
                <c:pt idx="14">
                  <c:v>-0.53333333333333333</c:v>
                </c:pt>
                <c:pt idx="15">
                  <c:v>-0.5</c:v>
                </c:pt>
                <c:pt idx="16">
                  <c:v>-0.46666666666666667</c:v>
                </c:pt>
                <c:pt idx="17">
                  <c:v>-0.43333333333333335</c:v>
                </c:pt>
                <c:pt idx="18">
                  <c:v>-0.4</c:v>
                </c:pt>
                <c:pt idx="19">
                  <c:v>-0.3666666666666667</c:v>
                </c:pt>
                <c:pt idx="20">
                  <c:v>-0.33333333333333337</c:v>
                </c:pt>
                <c:pt idx="21">
                  <c:v>-0.30000000000000004</c:v>
                </c:pt>
                <c:pt idx="22">
                  <c:v>-0.26666666666666672</c:v>
                </c:pt>
                <c:pt idx="23">
                  <c:v>-0.23333333333333339</c:v>
                </c:pt>
                <c:pt idx="24">
                  <c:v>-0.19999999999999996</c:v>
                </c:pt>
                <c:pt idx="25">
                  <c:v>-0.16666666666666663</c:v>
                </c:pt>
                <c:pt idx="26">
                  <c:v>-0.1333333333333333</c:v>
                </c:pt>
                <c:pt idx="27">
                  <c:v>-9.9999999999999978E-2</c:v>
                </c:pt>
                <c:pt idx="28">
                  <c:v>-6.6666666666666652E-2</c:v>
                </c:pt>
                <c:pt idx="29">
                  <c:v>-3.3333333333333326E-2</c:v>
                </c:pt>
                <c:pt idx="30">
                  <c:v>0</c:v>
                </c:pt>
                <c:pt idx="31">
                  <c:v>3.3333333333333215E-2</c:v>
                </c:pt>
                <c:pt idx="32">
                  <c:v>6.6666666666666652E-2</c:v>
                </c:pt>
                <c:pt idx="33">
                  <c:v>0.10000000000000009</c:v>
                </c:pt>
                <c:pt idx="34">
                  <c:v>0.1333333333333333</c:v>
                </c:pt>
                <c:pt idx="35">
                  <c:v>0.16666666666666674</c:v>
                </c:pt>
                <c:pt idx="36">
                  <c:v>0.19999999999999996</c:v>
                </c:pt>
                <c:pt idx="37">
                  <c:v>0.23333333333333339</c:v>
                </c:pt>
                <c:pt idx="38">
                  <c:v>0.26666666666666661</c:v>
                </c:pt>
                <c:pt idx="39">
                  <c:v>0.30000000000000004</c:v>
                </c:pt>
                <c:pt idx="40">
                  <c:v>0.33333333333333326</c:v>
                </c:pt>
                <c:pt idx="41">
                  <c:v>0.3666666666666667</c:v>
                </c:pt>
                <c:pt idx="42">
                  <c:v>0.39999999999999991</c:v>
                </c:pt>
                <c:pt idx="43">
                  <c:v>0.43333333333333335</c:v>
                </c:pt>
                <c:pt idx="44">
                  <c:v>0.46666666666666656</c:v>
                </c:pt>
                <c:pt idx="45">
                  <c:v>0.5</c:v>
                </c:pt>
                <c:pt idx="46">
                  <c:v>0.53333333333333321</c:v>
                </c:pt>
                <c:pt idx="47">
                  <c:v>0.56666666666666665</c:v>
                </c:pt>
                <c:pt idx="48">
                  <c:v>0.60000000000000009</c:v>
                </c:pt>
                <c:pt idx="49">
                  <c:v>0.6333333333333333</c:v>
                </c:pt>
                <c:pt idx="50">
                  <c:v>0.66666666666666674</c:v>
                </c:pt>
                <c:pt idx="51">
                  <c:v>0.7</c:v>
                </c:pt>
                <c:pt idx="52">
                  <c:v>0.73333333333333339</c:v>
                </c:pt>
                <c:pt idx="53">
                  <c:v>0.76666666666666661</c:v>
                </c:pt>
                <c:pt idx="54">
                  <c:v>0.8</c:v>
                </c:pt>
                <c:pt idx="55">
                  <c:v>0.83333333333333326</c:v>
                </c:pt>
                <c:pt idx="56">
                  <c:v>0.8666666666666667</c:v>
                </c:pt>
                <c:pt idx="57">
                  <c:v>0.89999999999999991</c:v>
                </c:pt>
                <c:pt idx="58">
                  <c:v>0.93333333333333335</c:v>
                </c:pt>
                <c:pt idx="59">
                  <c:v>0.96666666666666656</c:v>
                </c:pt>
                <c:pt idx="60">
                  <c:v>1</c:v>
                </c:pt>
              </c:numCache>
            </c:numRef>
          </c:xVal>
          <c:yVal>
            <c:numRef>
              <c:f>Sheet1!$B$2:$B$62</c:f>
              <c:numCache>
                <c:formatCode>General</c:formatCode>
                <c:ptCount val="61"/>
                <c:pt idx="0">
                  <c:v>5.140929987637018E-3</c:v>
                </c:pt>
                <c:pt idx="1">
                  <c:v>7.3996412951883341E-3</c:v>
                </c:pt>
                <c:pt idx="2">
                  <c:v>1.0520054388060147E-2</c:v>
                </c:pt>
                <c:pt idx="3">
                  <c:v>1.4772828039793358E-2</c:v>
                </c:pt>
                <c:pt idx="4">
                  <c:v>2.0490268045371351E-2</c:v>
                </c:pt>
                <c:pt idx="5">
                  <c:v>2.8071781613727809E-2</c:v>
                </c:pt>
                <c:pt idx="6">
                  <c:v>3.7986620079324775E-2</c:v>
                </c:pt>
                <c:pt idx="7">
                  <c:v>5.0772631090338964E-2</c:v>
                </c:pt>
                <c:pt idx="8">
                  <c:v>6.7029661415291431E-2</c:v>
                </c:pt>
                <c:pt idx="9">
                  <c:v>8.7406296979031614E-2</c:v>
                </c:pt>
                <c:pt idx="10">
                  <c:v>0.11257883678423537</c:v>
                </c:pt>
                <c:pt idx="11">
                  <c:v>0.14322180154652403</c:v>
                </c:pt>
                <c:pt idx="12">
                  <c:v>0.17996988837729355</c:v>
                </c:pt>
                <c:pt idx="13">
                  <c:v>0.22337208706153408</c:v>
                </c:pt>
                <c:pt idx="14">
                  <c:v>0.27383962820801944</c:v>
                </c:pt>
                <c:pt idx="15">
                  <c:v>0.33159046264249559</c:v>
                </c:pt>
                <c:pt idx="16">
                  <c:v>0.3965939680802551</c:v>
                </c:pt>
                <c:pt idx="17">
                  <c:v>0.46852041387131493</c:v>
                </c:pt>
                <c:pt idx="18">
                  <c:v>0.5467002489199787</c:v>
                </c:pt>
                <c:pt idx="19">
                  <c:v>0.63009838247770755</c:v>
                </c:pt>
                <c:pt idx="20">
                  <c:v>0.7173082033434367</c:v>
                </c:pt>
                <c:pt idx="21">
                  <c:v>0.80656908173047781</c:v>
                </c:pt>
                <c:pt idx="22">
                  <c:v>0.89580953847107991</c:v>
                </c:pt>
                <c:pt idx="23">
                  <c:v>0.98271624311625716</c:v>
                </c:pt>
                <c:pt idx="24">
                  <c:v>1.0648266850745076</c:v>
                </c:pt>
                <c:pt idx="25">
                  <c:v>1.1396409805537642</c:v>
                </c:pt>
                <c:pt idx="26">
                  <c:v>1.2047460996091452</c:v>
                </c:pt>
                <c:pt idx="27">
                  <c:v>1.2579440923099774</c:v>
                </c:pt>
                <c:pt idx="28">
                  <c:v>1.2973748972391546</c:v>
                </c:pt>
                <c:pt idx="29">
                  <c:v>1.3216241958502934</c:v>
                </c:pt>
                <c:pt idx="30">
                  <c:v>1.329807601338109</c:v>
                </c:pt>
                <c:pt idx="31">
                  <c:v>1.3216241958502934</c:v>
                </c:pt>
                <c:pt idx="32">
                  <c:v>1.2973748972391546</c:v>
                </c:pt>
                <c:pt idx="33">
                  <c:v>1.2579440923099774</c:v>
                </c:pt>
                <c:pt idx="34">
                  <c:v>1.2047460996091452</c:v>
                </c:pt>
                <c:pt idx="35">
                  <c:v>1.1396409805537639</c:v>
                </c:pt>
                <c:pt idx="36">
                  <c:v>1.0648266850745076</c:v>
                </c:pt>
                <c:pt idx="37">
                  <c:v>0.98271624311625716</c:v>
                </c:pt>
                <c:pt idx="38">
                  <c:v>0.89580953847108002</c:v>
                </c:pt>
                <c:pt idx="39">
                  <c:v>0.80656908173047781</c:v>
                </c:pt>
                <c:pt idx="40">
                  <c:v>0.71730820334343715</c:v>
                </c:pt>
                <c:pt idx="41">
                  <c:v>0.63009838247770755</c:v>
                </c:pt>
                <c:pt idx="42">
                  <c:v>0.54670024891997904</c:v>
                </c:pt>
                <c:pt idx="43">
                  <c:v>0.46852041387131493</c:v>
                </c:pt>
                <c:pt idx="44">
                  <c:v>0.39659396808025527</c:v>
                </c:pt>
                <c:pt idx="45">
                  <c:v>0.33159046264249559</c:v>
                </c:pt>
                <c:pt idx="46">
                  <c:v>0.2738396282080196</c:v>
                </c:pt>
                <c:pt idx="47">
                  <c:v>0.22337208706153408</c:v>
                </c:pt>
                <c:pt idx="48">
                  <c:v>0.17996988837729336</c:v>
                </c:pt>
                <c:pt idx="49">
                  <c:v>0.14322180154652403</c:v>
                </c:pt>
                <c:pt idx="50">
                  <c:v>0.11257883678423537</c:v>
                </c:pt>
                <c:pt idx="51">
                  <c:v>8.7406296979031614E-2</c:v>
                </c:pt>
                <c:pt idx="52">
                  <c:v>6.7029661415291431E-2</c:v>
                </c:pt>
                <c:pt idx="53">
                  <c:v>5.0772631090338964E-2</c:v>
                </c:pt>
                <c:pt idx="54">
                  <c:v>3.7986620079324775E-2</c:v>
                </c:pt>
                <c:pt idx="55">
                  <c:v>2.8071781613727847E-2</c:v>
                </c:pt>
                <c:pt idx="56">
                  <c:v>2.0490268045371351E-2</c:v>
                </c:pt>
                <c:pt idx="57">
                  <c:v>1.4772828039793358E-2</c:v>
                </c:pt>
                <c:pt idx="58">
                  <c:v>1.0520054388060147E-2</c:v>
                </c:pt>
                <c:pt idx="59">
                  <c:v>7.3996412951883479E-3</c:v>
                </c:pt>
                <c:pt idx="60">
                  <c:v>5.140929987637018E-3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143-4A24-B20B-98A75C7D5D89}"/>
            </c:ext>
          </c:extLst>
        </c:ser>
        <c:ser>
          <c:idx val="1"/>
          <c:order val="1"/>
          <c:tx>
            <c:strRef>
              <c:f>Sheet1!$B$64</c:f>
              <c:strCache>
                <c:ptCount val="1"/>
                <c:pt idx="0">
                  <c:v>-σ</c:v>
                </c:pt>
              </c:strCache>
            </c:strRef>
          </c:tx>
          <c:spPr>
            <a:ln w="15875">
              <a:solidFill>
                <a:srgbClr val="1F6FD1"/>
              </a:solidFill>
              <a:prstDash val="dash"/>
            </a:ln>
          </c:spPr>
          <c:marker>
            <c:symbol val="none"/>
          </c:marker>
          <c:xVal>
            <c:numRef>
              <c:f>Sheet1!$A$65:$A$66</c:f>
              <c:numCache>
                <c:formatCode>General</c:formatCode>
                <c:ptCount val="2"/>
                <c:pt idx="0">
                  <c:v>-0.3</c:v>
                </c:pt>
                <c:pt idx="1">
                  <c:v>-0.3</c:v>
                </c:pt>
              </c:numCache>
            </c:numRef>
          </c:xVal>
          <c:yVal>
            <c:numRef>
              <c:f>Sheet1!$B$65:$B$66</c:f>
              <c:numCache>
                <c:formatCode>General</c:formatCode>
                <c:ptCount val="2"/>
                <c:pt idx="0">
                  <c:v>0</c:v>
                </c:pt>
                <c:pt idx="1">
                  <c:v>0.80656908173047792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143-4A24-B20B-98A75C7D5D89}"/>
            </c:ext>
          </c:extLst>
        </c:ser>
        <c:ser>
          <c:idx val="2"/>
          <c:order val="2"/>
          <c:tx>
            <c:strRef>
              <c:f>Sheet1!$B$68</c:f>
              <c:strCache>
                <c:ptCount val="1"/>
                <c:pt idx="0">
                  <c:v>+σ</c:v>
                </c:pt>
              </c:strCache>
            </c:strRef>
          </c:tx>
          <c:spPr>
            <a:ln w="15875">
              <a:solidFill>
                <a:srgbClr val="1F6FD1"/>
              </a:solidFill>
              <a:prstDash val="dash"/>
            </a:ln>
          </c:spPr>
          <c:marker>
            <c:symbol val="none"/>
          </c:marker>
          <c:xVal>
            <c:numRef>
              <c:f>Sheet1!$A$69:$A$70</c:f>
              <c:numCache>
                <c:formatCode>General</c:formatCode>
                <c:ptCount val="2"/>
                <c:pt idx="0">
                  <c:v>0.3</c:v>
                </c:pt>
                <c:pt idx="1">
                  <c:v>0.3</c:v>
                </c:pt>
              </c:numCache>
            </c:numRef>
          </c:xVal>
          <c:yVal>
            <c:numRef>
              <c:f>Sheet1!$B$69:$B$70</c:f>
              <c:numCache>
                <c:formatCode>General</c:formatCode>
                <c:ptCount val="2"/>
                <c:pt idx="0">
                  <c:v>0</c:v>
                </c:pt>
                <c:pt idx="1">
                  <c:v>0.80656908173047792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143-4A24-B20B-98A75C7D5D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"/>
          <c:min val="-1"/>
        </c:scaling>
        <c:delete val="0"/>
        <c:axPos val="b"/>
        <c:title>
          <c:tx>
            <c:rich>
              <a:bodyPr/>
              <a:lstStyle/>
              <a:p>
                <a:r>
                  <a:rPr lang="en-US" sz="1000" b="0"/>
                  <a:t>drone position error [m]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  <c:majorUnit val="0.5"/>
      </c:valAx>
      <c:valAx>
        <c:axId val="-212964391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12294A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far gate (15 m)</c:v>
                </c:pt>
              </c:strCache>
            </c:strRef>
          </c:tx>
          <c:spPr>
            <a:ln w="31750">
              <a:solidFill>
                <a:srgbClr val="E84A27"/>
              </a:solidFill>
            </a:ln>
          </c:spPr>
          <c:marker>
            <c:symbol val="none"/>
          </c:marker>
          <c:xVal>
            <c:numRef>
              <c:f>Sheet1!$A$2:$A$62</c:f>
              <c:numCache>
                <c:formatCode>General</c:formatCode>
                <c:ptCount val="61"/>
                <c:pt idx="0">
                  <c:v>-75</c:v>
                </c:pt>
                <c:pt idx="1">
                  <c:v>-72.5</c:v>
                </c:pt>
                <c:pt idx="2">
                  <c:v>-70</c:v>
                </c:pt>
                <c:pt idx="3">
                  <c:v>-67.5</c:v>
                </c:pt>
                <c:pt idx="4">
                  <c:v>-65</c:v>
                </c:pt>
                <c:pt idx="5">
                  <c:v>-62.5</c:v>
                </c:pt>
                <c:pt idx="6">
                  <c:v>-60</c:v>
                </c:pt>
                <c:pt idx="7">
                  <c:v>-57.5</c:v>
                </c:pt>
                <c:pt idx="8">
                  <c:v>-55</c:v>
                </c:pt>
                <c:pt idx="9">
                  <c:v>-52.5</c:v>
                </c:pt>
                <c:pt idx="10">
                  <c:v>-50</c:v>
                </c:pt>
                <c:pt idx="11">
                  <c:v>-47.5</c:v>
                </c:pt>
                <c:pt idx="12">
                  <c:v>-45</c:v>
                </c:pt>
                <c:pt idx="13">
                  <c:v>-42.5</c:v>
                </c:pt>
                <c:pt idx="14">
                  <c:v>-40</c:v>
                </c:pt>
                <c:pt idx="15">
                  <c:v>-37.5</c:v>
                </c:pt>
                <c:pt idx="16">
                  <c:v>-35</c:v>
                </c:pt>
                <c:pt idx="17">
                  <c:v>-32.5</c:v>
                </c:pt>
                <c:pt idx="18">
                  <c:v>-30</c:v>
                </c:pt>
                <c:pt idx="19">
                  <c:v>-27.5</c:v>
                </c:pt>
                <c:pt idx="20">
                  <c:v>-25</c:v>
                </c:pt>
                <c:pt idx="21">
                  <c:v>-22.5</c:v>
                </c:pt>
                <c:pt idx="22">
                  <c:v>-20</c:v>
                </c:pt>
                <c:pt idx="23">
                  <c:v>-17.5</c:v>
                </c:pt>
                <c:pt idx="24">
                  <c:v>-15</c:v>
                </c:pt>
                <c:pt idx="25">
                  <c:v>-12.5</c:v>
                </c:pt>
                <c:pt idx="26">
                  <c:v>-10</c:v>
                </c:pt>
                <c:pt idx="27">
                  <c:v>-7.5</c:v>
                </c:pt>
                <c:pt idx="28">
                  <c:v>-5</c:v>
                </c:pt>
                <c:pt idx="29">
                  <c:v>-2.5</c:v>
                </c:pt>
                <c:pt idx="30">
                  <c:v>0</c:v>
                </c:pt>
                <c:pt idx="31">
                  <c:v>2.5</c:v>
                </c:pt>
                <c:pt idx="32">
                  <c:v>5</c:v>
                </c:pt>
                <c:pt idx="33">
                  <c:v>7.5</c:v>
                </c:pt>
                <c:pt idx="34">
                  <c:v>10</c:v>
                </c:pt>
                <c:pt idx="35">
                  <c:v>12.5</c:v>
                </c:pt>
                <c:pt idx="36">
                  <c:v>15</c:v>
                </c:pt>
                <c:pt idx="37">
                  <c:v>17.5</c:v>
                </c:pt>
                <c:pt idx="38">
                  <c:v>20</c:v>
                </c:pt>
                <c:pt idx="39">
                  <c:v>22.5</c:v>
                </c:pt>
                <c:pt idx="40">
                  <c:v>25</c:v>
                </c:pt>
                <c:pt idx="41">
                  <c:v>27.5</c:v>
                </c:pt>
                <c:pt idx="42">
                  <c:v>30</c:v>
                </c:pt>
                <c:pt idx="43">
                  <c:v>32.5</c:v>
                </c:pt>
                <c:pt idx="44">
                  <c:v>35</c:v>
                </c:pt>
                <c:pt idx="45">
                  <c:v>37.5</c:v>
                </c:pt>
                <c:pt idx="46">
                  <c:v>40</c:v>
                </c:pt>
                <c:pt idx="47">
                  <c:v>42.5</c:v>
                </c:pt>
                <c:pt idx="48">
                  <c:v>45</c:v>
                </c:pt>
                <c:pt idx="49">
                  <c:v>47.5</c:v>
                </c:pt>
                <c:pt idx="50">
                  <c:v>50</c:v>
                </c:pt>
                <c:pt idx="51">
                  <c:v>52.5</c:v>
                </c:pt>
                <c:pt idx="52">
                  <c:v>55</c:v>
                </c:pt>
                <c:pt idx="53">
                  <c:v>57.5</c:v>
                </c:pt>
                <c:pt idx="54">
                  <c:v>60</c:v>
                </c:pt>
                <c:pt idx="55">
                  <c:v>62.5</c:v>
                </c:pt>
                <c:pt idx="56">
                  <c:v>65</c:v>
                </c:pt>
                <c:pt idx="57">
                  <c:v>67.5</c:v>
                </c:pt>
                <c:pt idx="58">
                  <c:v>70</c:v>
                </c:pt>
                <c:pt idx="59">
                  <c:v>72.5</c:v>
                </c:pt>
                <c:pt idx="60">
                  <c:v>75</c:v>
                </c:pt>
              </c:numCache>
            </c:numRef>
          </c:xVal>
          <c:yVal>
            <c:numRef>
              <c:f>Sheet1!$B$2:$B$62</c:f>
              <c:numCache>
                <c:formatCode>General</c:formatCode>
                <c:ptCount val="61"/>
                <c:pt idx="0">
                  <c:v>4.9453493057343909E-12</c:v>
                </c:pt>
                <c:pt idx="1">
                  <c:v>2.1907309145212755E-11</c:v>
                </c:pt>
                <c:pt idx="2">
                  <c:v>9.2271908981122567E-11</c:v>
                </c:pt>
                <c:pt idx="3">
                  <c:v>3.6952036574935605E-10</c:v>
                </c:pt>
                <c:pt idx="4">
                  <c:v>1.407005053026849E-9</c:v>
                </c:pt>
                <c:pt idx="5">
                  <c:v>5.0937935572466005E-9</c:v>
                </c:pt>
                <c:pt idx="6">
                  <c:v>1.7533774910585823E-8</c:v>
                </c:pt>
                <c:pt idx="7">
                  <c:v>5.7384938276764721E-8</c:v>
                </c:pt>
                <c:pt idx="8">
                  <c:v>1.785701302059241E-7</c:v>
                </c:pt>
                <c:pt idx="9">
                  <c:v>5.283334604677926E-7</c:v>
                </c:pt>
                <c:pt idx="10">
                  <c:v>1.4862635327451191E-6</c:v>
                </c:pt>
                <c:pt idx="11">
                  <c:v>3.9753185224632609E-6</c:v>
                </c:pt>
                <c:pt idx="12">
                  <c:v>1.0109657604679967E-5</c:v>
                </c:pt>
                <c:pt idx="13">
                  <c:v>2.4444962003645979E-5</c:v>
                </c:pt>
                <c:pt idx="14">
                  <c:v>5.6199272104978112E-5</c:v>
                </c:pt>
                <c:pt idx="15">
                  <c:v>1.2284583009122046E-4</c:v>
                </c:pt>
                <c:pt idx="16">
                  <c:v>2.5531630614339038E-4</c:v>
                </c:pt>
                <c:pt idx="17">
                  <c:v>5.0452778733037153E-4</c:v>
                </c:pt>
                <c:pt idx="18">
                  <c:v>9.4793821757963655E-4</c:v>
                </c:pt>
                <c:pt idx="19">
                  <c:v>1.6934149125564465E-3</c:v>
                </c:pt>
                <c:pt idx="20">
                  <c:v>2.8763062940088246E-3</c:v>
                </c:pt>
                <c:pt idx="21">
                  <c:v>4.645102352411932E-3</c:v>
                </c:pt>
                <c:pt idx="22">
                  <c:v>7.1325339704182301E-3</c:v>
                </c:pt>
                <c:pt idx="23">
                  <c:v>1.0413118586582974E-2</c:v>
                </c:pt>
                <c:pt idx="24">
                  <c:v>1.4454603538815681E-2</c:v>
                </c:pt>
                <c:pt idx="25">
                  <c:v>1.9077433967805361E-2</c:v>
                </c:pt>
                <c:pt idx="26">
                  <c:v>2.3939889324495454E-2</c:v>
                </c:pt>
                <c:pt idx="27">
                  <c:v>2.856358550041331E-2</c:v>
                </c:pt>
                <c:pt idx="28">
                  <c:v>3.240348421893751E-2</c:v>
                </c:pt>
                <c:pt idx="29">
                  <c:v>3.495095957755745E-2</c:v>
                </c:pt>
                <c:pt idx="30">
                  <c:v>3.5843870656013715E-2</c:v>
                </c:pt>
                <c:pt idx="31">
                  <c:v>3.495095957755745E-2</c:v>
                </c:pt>
                <c:pt idx="32">
                  <c:v>3.240348421893751E-2</c:v>
                </c:pt>
                <c:pt idx="33">
                  <c:v>2.856358550041331E-2</c:v>
                </c:pt>
                <c:pt idx="34">
                  <c:v>2.3939889324495454E-2</c:v>
                </c:pt>
                <c:pt idx="35">
                  <c:v>1.9077433967805361E-2</c:v>
                </c:pt>
                <c:pt idx="36">
                  <c:v>1.4454603538815681E-2</c:v>
                </c:pt>
                <c:pt idx="37">
                  <c:v>1.0413118586582974E-2</c:v>
                </c:pt>
                <c:pt idx="38">
                  <c:v>7.1325339704182301E-3</c:v>
                </c:pt>
                <c:pt idx="39">
                  <c:v>4.645102352411932E-3</c:v>
                </c:pt>
                <c:pt idx="40">
                  <c:v>2.8763062940088246E-3</c:v>
                </c:pt>
                <c:pt idx="41">
                  <c:v>1.6934149125564465E-3</c:v>
                </c:pt>
                <c:pt idx="42">
                  <c:v>9.4793821757963655E-4</c:v>
                </c:pt>
                <c:pt idx="43">
                  <c:v>5.0452778733037153E-4</c:v>
                </c:pt>
                <c:pt idx="44">
                  <c:v>2.5531630614339038E-4</c:v>
                </c:pt>
                <c:pt idx="45">
                  <c:v>1.2284583009122046E-4</c:v>
                </c:pt>
                <c:pt idx="46">
                  <c:v>5.6199272104978112E-5</c:v>
                </c:pt>
                <c:pt idx="47">
                  <c:v>2.4444962003645979E-5</c:v>
                </c:pt>
                <c:pt idx="48">
                  <c:v>1.0109657604679967E-5</c:v>
                </c:pt>
                <c:pt idx="49">
                  <c:v>3.9753185224632609E-6</c:v>
                </c:pt>
                <c:pt idx="50">
                  <c:v>1.4862635327451191E-6</c:v>
                </c:pt>
                <c:pt idx="51">
                  <c:v>5.283334604677926E-7</c:v>
                </c:pt>
                <c:pt idx="52">
                  <c:v>1.785701302059241E-7</c:v>
                </c:pt>
                <c:pt idx="53">
                  <c:v>5.7384938276764721E-8</c:v>
                </c:pt>
                <c:pt idx="54">
                  <c:v>1.7533774910585823E-8</c:v>
                </c:pt>
                <c:pt idx="55">
                  <c:v>5.0937935572466005E-9</c:v>
                </c:pt>
                <c:pt idx="56">
                  <c:v>1.407005053026849E-9</c:v>
                </c:pt>
                <c:pt idx="57">
                  <c:v>3.6952036574935605E-10</c:v>
                </c:pt>
                <c:pt idx="58">
                  <c:v>9.2271908981122567E-11</c:v>
                </c:pt>
                <c:pt idx="59">
                  <c:v>2.1907309145212755E-11</c:v>
                </c:pt>
                <c:pt idx="60">
                  <c:v>4.9453493057343909E-12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3AB-4F92-884B-4F76FDED5962}"/>
            </c:ext>
          </c:extLst>
        </c:ser>
        <c:ser>
          <c:idx val="1"/>
          <c:order val="1"/>
          <c:tx>
            <c:strRef>
              <c:f>Sheet1!$B$64</c:f>
              <c:strCache>
                <c:ptCount val="1"/>
                <c:pt idx="0">
                  <c:v>near gate (8 m)</c:v>
                </c:pt>
              </c:strCache>
            </c:strRef>
          </c:tx>
          <c:spPr>
            <a:ln w="31750">
              <a:solidFill>
                <a:srgbClr val="D81B9C"/>
              </a:solidFill>
            </a:ln>
          </c:spPr>
          <c:marker>
            <c:symbol val="none"/>
          </c:marker>
          <c:xVal>
            <c:numRef>
              <c:f>Sheet1!$A$65:$A$125</c:f>
              <c:numCache>
                <c:formatCode>General</c:formatCode>
                <c:ptCount val="61"/>
                <c:pt idx="0">
                  <c:v>-75</c:v>
                </c:pt>
                <c:pt idx="1">
                  <c:v>-72.5</c:v>
                </c:pt>
                <c:pt idx="2">
                  <c:v>-70</c:v>
                </c:pt>
                <c:pt idx="3">
                  <c:v>-67.5</c:v>
                </c:pt>
                <c:pt idx="4">
                  <c:v>-65</c:v>
                </c:pt>
                <c:pt idx="5">
                  <c:v>-62.5</c:v>
                </c:pt>
                <c:pt idx="6">
                  <c:v>-60</c:v>
                </c:pt>
                <c:pt idx="7">
                  <c:v>-57.5</c:v>
                </c:pt>
                <c:pt idx="8">
                  <c:v>-55</c:v>
                </c:pt>
                <c:pt idx="9">
                  <c:v>-52.5</c:v>
                </c:pt>
                <c:pt idx="10">
                  <c:v>-50</c:v>
                </c:pt>
                <c:pt idx="11">
                  <c:v>-47.5</c:v>
                </c:pt>
                <c:pt idx="12">
                  <c:v>-45</c:v>
                </c:pt>
                <c:pt idx="13">
                  <c:v>-42.5</c:v>
                </c:pt>
                <c:pt idx="14">
                  <c:v>-40</c:v>
                </c:pt>
                <c:pt idx="15">
                  <c:v>-37.5</c:v>
                </c:pt>
                <c:pt idx="16">
                  <c:v>-35</c:v>
                </c:pt>
                <c:pt idx="17">
                  <c:v>-32.5</c:v>
                </c:pt>
                <c:pt idx="18">
                  <c:v>-30</c:v>
                </c:pt>
                <c:pt idx="19">
                  <c:v>-27.5</c:v>
                </c:pt>
                <c:pt idx="20">
                  <c:v>-25</c:v>
                </c:pt>
                <c:pt idx="21">
                  <c:v>-22.5</c:v>
                </c:pt>
                <c:pt idx="22">
                  <c:v>-20</c:v>
                </c:pt>
                <c:pt idx="23">
                  <c:v>-17.5</c:v>
                </c:pt>
                <c:pt idx="24">
                  <c:v>-15</c:v>
                </c:pt>
                <c:pt idx="25">
                  <c:v>-12.5</c:v>
                </c:pt>
                <c:pt idx="26">
                  <c:v>-10</c:v>
                </c:pt>
                <c:pt idx="27">
                  <c:v>-7.5</c:v>
                </c:pt>
                <c:pt idx="28">
                  <c:v>-5</c:v>
                </c:pt>
                <c:pt idx="29">
                  <c:v>-2.5</c:v>
                </c:pt>
                <c:pt idx="30">
                  <c:v>0</c:v>
                </c:pt>
                <c:pt idx="31">
                  <c:v>2.5</c:v>
                </c:pt>
                <c:pt idx="32">
                  <c:v>5</c:v>
                </c:pt>
                <c:pt idx="33">
                  <c:v>7.5</c:v>
                </c:pt>
                <c:pt idx="34">
                  <c:v>10</c:v>
                </c:pt>
                <c:pt idx="35">
                  <c:v>12.5</c:v>
                </c:pt>
                <c:pt idx="36">
                  <c:v>15</c:v>
                </c:pt>
                <c:pt idx="37">
                  <c:v>17.5</c:v>
                </c:pt>
                <c:pt idx="38">
                  <c:v>20</c:v>
                </c:pt>
                <c:pt idx="39">
                  <c:v>22.5</c:v>
                </c:pt>
                <c:pt idx="40">
                  <c:v>25</c:v>
                </c:pt>
                <c:pt idx="41">
                  <c:v>27.5</c:v>
                </c:pt>
                <c:pt idx="42">
                  <c:v>30</c:v>
                </c:pt>
                <c:pt idx="43">
                  <c:v>32.5</c:v>
                </c:pt>
                <c:pt idx="44">
                  <c:v>35</c:v>
                </c:pt>
                <c:pt idx="45">
                  <c:v>37.5</c:v>
                </c:pt>
                <c:pt idx="46">
                  <c:v>40</c:v>
                </c:pt>
                <c:pt idx="47">
                  <c:v>42.5</c:v>
                </c:pt>
                <c:pt idx="48">
                  <c:v>45</c:v>
                </c:pt>
                <c:pt idx="49">
                  <c:v>47.5</c:v>
                </c:pt>
                <c:pt idx="50">
                  <c:v>50</c:v>
                </c:pt>
                <c:pt idx="51">
                  <c:v>52.5</c:v>
                </c:pt>
                <c:pt idx="52">
                  <c:v>55</c:v>
                </c:pt>
                <c:pt idx="53">
                  <c:v>57.5</c:v>
                </c:pt>
                <c:pt idx="54">
                  <c:v>60</c:v>
                </c:pt>
                <c:pt idx="55">
                  <c:v>62.5</c:v>
                </c:pt>
                <c:pt idx="56">
                  <c:v>65</c:v>
                </c:pt>
                <c:pt idx="57">
                  <c:v>67.5</c:v>
                </c:pt>
                <c:pt idx="58">
                  <c:v>70</c:v>
                </c:pt>
                <c:pt idx="59">
                  <c:v>72.5</c:v>
                </c:pt>
                <c:pt idx="60">
                  <c:v>75</c:v>
                </c:pt>
              </c:numCache>
            </c:numRef>
          </c:xVal>
          <c:yVal>
            <c:numRef>
              <c:f>Sheet1!$B$65:$B$125</c:f>
              <c:numCache>
                <c:formatCode>General</c:formatCode>
                <c:ptCount val="61"/>
                <c:pt idx="0">
                  <c:v>2.487325510387795E-5</c:v>
                </c:pt>
                <c:pt idx="1">
                  <c:v>3.848958769213653E-5</c:v>
                </c:pt>
                <c:pt idx="2">
                  <c:v>5.8684906168434928E-5</c:v>
                </c:pt>
                <c:pt idx="3">
                  <c:v>8.816213341546814E-5</c:v>
                </c:pt>
                <c:pt idx="4">
                  <c:v>1.3049993290518359E-4</c:v>
                </c:pt>
                <c:pt idx="5">
                  <c:v>1.9033164739239584E-4</c:v>
                </c:pt>
                <c:pt idx="6">
                  <c:v>2.735169504351264E-4</c:v>
                </c:pt>
                <c:pt idx="7">
                  <c:v>3.8728440164181795E-4</c:v>
                </c:pt>
                <c:pt idx="8">
                  <c:v>5.4031657003169144E-4</c:v>
                </c:pt>
                <c:pt idx="9">
                  <c:v>7.42743890213632E-4</c:v>
                </c:pt>
                <c:pt idx="10">
                  <c:v>1.0060102611601845E-3</c:v>
                </c:pt>
                <c:pt idx="11">
                  <c:v>1.3425740659917425E-3</c:v>
                </c:pt>
                <c:pt idx="12">
                  <c:v>1.7654142102902042E-3</c:v>
                </c:pt>
                <c:pt idx="13">
                  <c:v>2.2873230318807593E-3</c:v>
                </c:pt>
                <c:pt idx="14">
                  <c:v>2.9199869396736608E-3</c:v>
                </c:pt>
                <c:pt idx="15">
                  <c:v>3.67288081508545E-3</c:v>
                </c:pt>
                <c:pt idx="16">
                  <c:v>4.5520317581358933E-3</c:v>
                </c:pt>
                <c:pt idx="17">
                  <c:v>5.5587386000973673E-3</c:v>
                </c:pt>
                <c:pt idx="18">
                  <c:v>6.6883615435435664E-3</c:v>
                </c:pt>
                <c:pt idx="19">
                  <c:v>7.9293164664784293E-3</c:v>
                </c:pt>
                <c:pt idx="20">
                  <c:v>9.2624159978486262E-3</c:v>
                </c:pt>
                <c:pt idx="21">
                  <c:v>1.0660690477112123E-2</c:v>
                </c:pt>
                <c:pt idx="22">
                  <c:v>1.2089794168155773E-2</c:v>
                </c:pt>
                <c:pt idx="23">
                  <c:v>1.3509055954726757E-2</c:v>
                </c:pt>
                <c:pt idx="24">
                  <c:v>1.4873172501509735E-2</c:v>
                </c:pt>
                <c:pt idx="25">
                  <c:v>1.6134471724597706E-2</c:v>
                </c:pt>
                <c:pt idx="26">
                  <c:v>1.7245603880746127E-2</c:v>
                </c:pt>
                <c:pt idx="27">
                  <c:v>1.8162456345406874E-2</c:v>
                </c:pt>
                <c:pt idx="28">
                  <c:v>1.8847045599773033E-2</c:v>
                </c:pt>
                <c:pt idx="29">
                  <c:v>1.9270123590002429E-2</c:v>
                </c:pt>
                <c:pt idx="30">
                  <c:v>1.9413249654570936E-2</c:v>
                </c:pt>
                <c:pt idx="31">
                  <c:v>1.9270123590002429E-2</c:v>
                </c:pt>
                <c:pt idx="32">
                  <c:v>1.8847045599773033E-2</c:v>
                </c:pt>
                <c:pt idx="33">
                  <c:v>1.8162456345406874E-2</c:v>
                </c:pt>
                <c:pt idx="34">
                  <c:v>1.7245603880746127E-2</c:v>
                </c:pt>
                <c:pt idx="35">
                  <c:v>1.6134471724597706E-2</c:v>
                </c:pt>
                <c:pt idx="36">
                  <c:v>1.4873172501509735E-2</c:v>
                </c:pt>
                <c:pt idx="37">
                  <c:v>1.3509055954726757E-2</c:v>
                </c:pt>
                <c:pt idx="38">
                  <c:v>1.2089794168155773E-2</c:v>
                </c:pt>
                <c:pt idx="39">
                  <c:v>1.0660690477112123E-2</c:v>
                </c:pt>
                <c:pt idx="40">
                  <c:v>9.2624159978486262E-3</c:v>
                </c:pt>
                <c:pt idx="41">
                  <c:v>7.9293164664784293E-3</c:v>
                </c:pt>
                <c:pt idx="42">
                  <c:v>6.6883615435435664E-3</c:v>
                </c:pt>
                <c:pt idx="43">
                  <c:v>5.5587386000973673E-3</c:v>
                </c:pt>
                <c:pt idx="44">
                  <c:v>4.5520317581358933E-3</c:v>
                </c:pt>
                <c:pt idx="45">
                  <c:v>3.67288081508545E-3</c:v>
                </c:pt>
                <c:pt idx="46">
                  <c:v>2.9199869396736608E-3</c:v>
                </c:pt>
                <c:pt idx="47">
                  <c:v>2.2873230318807593E-3</c:v>
                </c:pt>
                <c:pt idx="48">
                  <c:v>1.7654142102902042E-3</c:v>
                </c:pt>
                <c:pt idx="49">
                  <c:v>1.3425740659917425E-3</c:v>
                </c:pt>
                <c:pt idx="50">
                  <c:v>1.0060102611601845E-3</c:v>
                </c:pt>
                <c:pt idx="51">
                  <c:v>7.42743890213632E-4</c:v>
                </c:pt>
                <c:pt idx="52">
                  <c:v>5.4031657003169144E-4</c:v>
                </c:pt>
                <c:pt idx="53">
                  <c:v>3.8728440164181795E-4</c:v>
                </c:pt>
                <c:pt idx="54">
                  <c:v>2.735169504351264E-4</c:v>
                </c:pt>
                <c:pt idx="55">
                  <c:v>1.9033164739239584E-4</c:v>
                </c:pt>
                <c:pt idx="56">
                  <c:v>1.3049993290518359E-4</c:v>
                </c:pt>
                <c:pt idx="57">
                  <c:v>8.816213341546814E-5</c:v>
                </c:pt>
                <c:pt idx="58">
                  <c:v>5.8684906168434928E-5</c:v>
                </c:pt>
                <c:pt idx="59">
                  <c:v>3.848958769213653E-5</c:v>
                </c:pt>
                <c:pt idx="60">
                  <c:v>2.487325510387795E-5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3AB-4F92-884B-4F76FDED59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75"/>
          <c:min val="-75"/>
        </c:scaling>
        <c:delete val="0"/>
        <c:axPos val="b"/>
        <c:title>
          <c:tx>
            <c:rich>
              <a:bodyPr/>
              <a:lstStyle/>
              <a:p>
                <a:r>
                  <a:rPr lang="en-US" sz="1000" b="0"/>
                  <a:t>offset from predicted pixel [px]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  <c:majorUnit val="25"/>
      </c:valAx>
      <c:valAx>
        <c:axId val="-212964391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12294A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DA628-37CE-439B-A901-0E6C87B87BBA}" type="datetimeFigureOut"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96995-8513-495B-B488-1B1F6DE4EEC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93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96995-8513-495B-B488-1B1F6DE4EE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6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Time 1: Has a prediction. Then measurement is received and there is a correct.</a:t>
            </a:r>
          </a:p>
          <a:p>
            <a:r>
              <a:rPr lang="en-US">
                <a:ea typeface="Calibri"/>
                <a:cs typeface="Calibri"/>
              </a:rPr>
              <a:t>Time 2: Based on motion model/motion, new prediction in pink. Then a measurement comes in. Correction is then computed from predicted state and correction</a:t>
            </a:r>
            <a:br>
              <a:rPr lang="en-US">
                <a:ea typeface="Calibri"/>
                <a:cs typeface="+mn-lt"/>
              </a:rPr>
            </a:br>
            <a:br>
              <a:rPr lang="en-US">
                <a:ea typeface="Calibri"/>
                <a:cs typeface="+mn-lt"/>
              </a:rPr>
            </a:b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96995-8513-495B-B488-1B1F6DE4EEC4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24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Technically inner and outer corners are detected, but not too important for student to know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96995-8513-495B-B488-1B1F6DE4EEC4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445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96995-8513-495B-B488-1B1F6DE4EEC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20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Blue is prior, pink is prediction after motion update (in this case input would be VIO odometry velocity)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96995-8513-495B-B488-1B1F6DE4EEC4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240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Measurement in blue, prior in pink. Corrected state in yellow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96995-8513-495B-B488-1B1F6DE4EEC4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11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Plots will be provided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96995-8513-495B-B488-1B1F6DE4EEC4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149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3425" y="527430"/>
            <a:ext cx="780415" cy="518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12294A"/>
                </a:solidFill>
                <a:latin typeface="Source Sans 3 Semibold"/>
                <a:cs typeface="Source Sans 3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rgbClr val="12294A"/>
                </a:solidFill>
                <a:latin typeface="Source Sans 3"/>
                <a:cs typeface="Source Sans 3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Source Sans 3 Semibold"/>
                <a:cs typeface="Source Sans 3 Semibold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t>ECE</a:t>
            </a:r>
            <a:r>
              <a:rPr spc="20"/>
              <a:t> </a:t>
            </a:r>
            <a:r>
              <a:rPr spc="-10"/>
              <a:t>Dept,</a:t>
            </a:r>
            <a:r>
              <a:rPr spc="-40"/>
              <a:t> </a:t>
            </a:r>
            <a:r>
              <a:t>Center</a:t>
            </a:r>
            <a:r>
              <a:rPr spc="-5"/>
              <a:t> </a:t>
            </a:r>
            <a:r>
              <a:t>for</a:t>
            </a:r>
            <a:r>
              <a:rPr spc="-35"/>
              <a:t> </a:t>
            </a:r>
            <a:r>
              <a:rPr spc="-10"/>
              <a:t>Autonmy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Source Sans 3 Semibold"/>
                <a:cs typeface="Source Sans 3 Semibold"/>
              </a:defRPr>
            </a:lvl1pPr>
          </a:lstStyle>
          <a:p>
            <a:pPr marL="9017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2294A"/>
                </a:solidFill>
                <a:latin typeface="Source Sans 3 Semibold"/>
                <a:cs typeface="Source Sans 3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rgbClr val="12294A"/>
                </a:solidFill>
                <a:latin typeface="Source Sans 3"/>
                <a:cs typeface="Source Sans 3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6257" y="6426420"/>
            <a:ext cx="1984375" cy="184666"/>
          </a:xfrm>
        </p:spPr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Source Sans 3 Semibold"/>
                <a:cs typeface="Source Sans 3 Semibold"/>
              </a:defRPr>
            </a:lvl1pPr>
          </a:lstStyle>
          <a:p>
            <a:pPr marL="12700">
              <a:spcBef>
                <a:spcPts val="80"/>
              </a:spcBef>
            </a:pPr>
            <a:r>
              <a:rPr lang="en-US"/>
              <a:t>ECE</a:t>
            </a:r>
            <a:r>
              <a:rPr lang="en-US" spc="20"/>
              <a:t>484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Source Sans 3 Semibold"/>
                <a:cs typeface="Source Sans 3 Semibold"/>
              </a:defRPr>
            </a:lvl1pPr>
          </a:lstStyle>
          <a:p>
            <a:pPr marL="9017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2294A"/>
                </a:solidFill>
                <a:latin typeface="Source Sans 3 Semibold"/>
                <a:cs typeface="Source Sans 3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Source Sans 3 Semibold"/>
                <a:cs typeface="Source Sans 3 Semibold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t>ECE</a:t>
            </a:r>
            <a:r>
              <a:rPr spc="20"/>
              <a:t> </a:t>
            </a:r>
            <a:r>
              <a:rPr spc="-10"/>
              <a:t>Dept,</a:t>
            </a:r>
            <a:r>
              <a:rPr spc="-40"/>
              <a:t> </a:t>
            </a:r>
            <a:r>
              <a:t>Center</a:t>
            </a:r>
            <a:r>
              <a:rPr spc="-5"/>
              <a:t> </a:t>
            </a:r>
            <a:r>
              <a:t>for</a:t>
            </a:r>
            <a:r>
              <a:rPr spc="-35"/>
              <a:t> </a:t>
            </a:r>
            <a:r>
              <a:rPr spc="-10"/>
              <a:t>Autonmy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Source Sans 3 Semibold"/>
                <a:cs typeface="Source Sans 3 Semibold"/>
              </a:defRPr>
            </a:lvl1pPr>
          </a:lstStyle>
          <a:p>
            <a:pPr marL="9017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2294A"/>
                </a:solidFill>
                <a:latin typeface="Source Sans 3 Semibold"/>
                <a:cs typeface="Source Sans 3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Source Sans 3 Semibold"/>
                <a:cs typeface="Source Sans 3 Semibold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t>ECE</a:t>
            </a:r>
            <a:r>
              <a:rPr spc="20"/>
              <a:t> </a:t>
            </a:r>
            <a:r>
              <a:rPr spc="-10"/>
              <a:t>Dept,</a:t>
            </a:r>
            <a:r>
              <a:rPr spc="-40"/>
              <a:t> </a:t>
            </a:r>
            <a:r>
              <a:t>Center</a:t>
            </a:r>
            <a:r>
              <a:rPr spc="-5"/>
              <a:t> </a:t>
            </a:r>
            <a:r>
              <a:t>for</a:t>
            </a:r>
            <a:r>
              <a:rPr spc="-35"/>
              <a:t> </a:t>
            </a:r>
            <a:r>
              <a:rPr spc="-10"/>
              <a:t>Autonmy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Source Sans 3 Semibold"/>
                <a:cs typeface="Source Sans 3 Semibold"/>
              </a:defRPr>
            </a:lvl1pPr>
          </a:lstStyle>
          <a:p>
            <a:pPr marL="9017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Source Sans 3 Semibold"/>
                <a:cs typeface="Source Sans 3 Semibold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t>ECE</a:t>
            </a:r>
            <a:r>
              <a:rPr spc="20"/>
              <a:t> </a:t>
            </a:r>
            <a:r>
              <a:rPr spc="-10"/>
              <a:t>Dept,</a:t>
            </a:r>
            <a:r>
              <a:rPr spc="-40"/>
              <a:t> </a:t>
            </a:r>
            <a:r>
              <a:t>Center</a:t>
            </a:r>
            <a:r>
              <a:rPr spc="-5"/>
              <a:t> </a:t>
            </a:r>
            <a:r>
              <a:t>for</a:t>
            </a:r>
            <a:r>
              <a:rPr spc="-35"/>
              <a:t> </a:t>
            </a:r>
            <a:r>
              <a:rPr spc="-10"/>
              <a:t>Autonmy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Source Sans 3 Semibold"/>
                <a:cs typeface="Source Sans 3 Semibold"/>
              </a:defRPr>
            </a:lvl1pPr>
          </a:lstStyle>
          <a:p>
            <a:pPr marL="9017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52450" y="276225"/>
            <a:ext cx="95250" cy="1190625"/>
          </a:xfrm>
          <a:custGeom>
            <a:avLst/>
            <a:gdLst/>
            <a:ahLst/>
            <a:cxnLst/>
            <a:rect l="l" t="t" r="r" b="b"/>
            <a:pathLst>
              <a:path w="95250" h="1190625">
                <a:moveTo>
                  <a:pt x="95250" y="0"/>
                </a:moveTo>
                <a:lnTo>
                  <a:pt x="0" y="0"/>
                </a:lnTo>
                <a:lnTo>
                  <a:pt x="0" y="1190625"/>
                </a:lnTo>
                <a:lnTo>
                  <a:pt x="95250" y="1190625"/>
                </a:lnTo>
                <a:lnTo>
                  <a:pt x="95250" y="0"/>
                </a:lnTo>
                <a:close/>
              </a:path>
            </a:pathLst>
          </a:custGeom>
          <a:solidFill>
            <a:srgbClr val="FF5F0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15675" y="276225"/>
            <a:ext cx="514350" cy="74295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6248400"/>
            <a:ext cx="12182475" cy="609600"/>
          </a:xfrm>
          <a:custGeom>
            <a:avLst/>
            <a:gdLst/>
            <a:ahLst/>
            <a:cxnLst/>
            <a:rect l="l" t="t" r="r" b="b"/>
            <a:pathLst>
              <a:path w="12182475" h="609600">
                <a:moveTo>
                  <a:pt x="12182475" y="0"/>
                </a:moveTo>
                <a:lnTo>
                  <a:pt x="0" y="0"/>
                </a:lnTo>
                <a:lnTo>
                  <a:pt x="0" y="609600"/>
                </a:lnTo>
                <a:lnTo>
                  <a:pt x="12182475" y="609600"/>
                </a:lnTo>
                <a:lnTo>
                  <a:pt x="12182475" y="0"/>
                </a:lnTo>
                <a:close/>
              </a:path>
            </a:pathLst>
          </a:custGeom>
          <a:solidFill>
            <a:srgbClr val="1229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3425" y="527430"/>
            <a:ext cx="7171690" cy="518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12294A"/>
                </a:solidFill>
                <a:latin typeface="Source Sans 3 Semibold"/>
                <a:cs typeface="Source Sans 3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77304" y="1602041"/>
            <a:ext cx="5250815" cy="3268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rgbClr val="12294A"/>
                </a:solidFill>
                <a:latin typeface="Source Sans 3"/>
                <a:cs typeface="Source Sans 3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36257" y="6426420"/>
            <a:ext cx="1984375" cy="217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Source Sans 3 Semibold"/>
                <a:cs typeface="Source Sans 3 Semibold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t>ECE</a:t>
            </a:r>
            <a:r>
              <a:rPr spc="20"/>
              <a:t> </a:t>
            </a:r>
            <a:r>
              <a:rPr spc="-10"/>
              <a:t>Dept,</a:t>
            </a:r>
            <a:r>
              <a:rPr spc="-40"/>
              <a:t> </a:t>
            </a:r>
            <a:r>
              <a:t>Center</a:t>
            </a:r>
            <a:r>
              <a:rPr spc="-5"/>
              <a:t> </a:t>
            </a:r>
            <a:r>
              <a:t>for</a:t>
            </a:r>
            <a:r>
              <a:rPr spc="-35"/>
              <a:t> </a:t>
            </a:r>
            <a:r>
              <a:rPr spc="-10"/>
              <a:t>Autonmy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1451" y="6436893"/>
            <a:ext cx="219963" cy="217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Source Sans 3 Semibold"/>
                <a:cs typeface="Source Sans 3 Semibold"/>
              </a:defRPr>
            </a:lvl1pPr>
          </a:lstStyle>
          <a:p>
            <a:pPr marL="9017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afeautonomy-illinois.github.io/ece484-site/assets/pdfs/spring-2026/Spring26_Lecture13_KF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06150" y="276225"/>
              <a:ext cx="523875" cy="7620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848198" y="2026816"/>
            <a:ext cx="6484172" cy="1706878"/>
          </a:xfrm>
          <a:prstGeom prst="rect">
            <a:avLst/>
          </a:prstGeom>
        </p:spPr>
        <p:txBody>
          <a:bodyPr vert="horz" wrap="square" lIns="0" tIns="72390" rIns="0" bIns="0" rtlCol="0" anchor="t">
            <a:sp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ECE484 FA26 MP3 Walkthrough</a:t>
            </a:r>
            <a:br>
              <a:rPr lang="en-US" sz="3600">
                <a:latin typeface="Calibri"/>
                <a:ea typeface="Calibri"/>
                <a:cs typeface="Calibri"/>
              </a:rPr>
            </a:br>
            <a:r>
              <a:rPr lang="en-US" sz="3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Drone Kalman Filter Localization</a:t>
            </a:r>
            <a:endParaRPr lang="en-US" sz="3600"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38505" marR="5080" indent="-725805" algn="ctr">
              <a:lnSpc>
                <a:spcPts val="3450"/>
              </a:lnSpc>
              <a:spcBef>
                <a:spcPts val="570"/>
              </a:spcBef>
            </a:pPr>
            <a:endParaRPr lang="en-US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6055" y="3726302"/>
            <a:ext cx="10615332" cy="1631216"/>
          </a:xfrm>
          <a:prstGeom prst="rect">
            <a:avLst/>
          </a:prstGeom>
        </p:spPr>
        <p:txBody>
          <a:bodyPr vert="horz" wrap="square" lIns="0" tIns="200660" rIns="0" bIns="0" rtlCol="0" anchor="t">
            <a:spAutoFit/>
          </a:bodyPr>
          <a:lstStyle/>
          <a:p>
            <a:pPr marL="3810" algn="ctr">
              <a:spcBef>
                <a:spcPts val="2450"/>
              </a:spcBef>
            </a:pP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Yuxi Chen, </a:t>
            </a:r>
            <a:r>
              <a:rPr lang="en-US" sz="2400">
                <a:solidFill>
                  <a:srgbClr val="FFFFFF"/>
                </a:solidFill>
              </a:rPr>
              <a:t>Hanna Chen, </a:t>
            </a:r>
            <a:r>
              <a:rPr lang="en-US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Taowei Huang, Eric Ji,</a:t>
            </a:r>
            <a:r>
              <a:rPr lang="en-US" sz="2400">
                <a:solidFill>
                  <a:srgbClr val="FFFFFF"/>
                </a:solidFill>
              </a:rPr>
              <a:t> Vishesh Prasad, Junsheng Huang</a:t>
            </a:r>
            <a:endParaRPr lang="en-US"/>
          </a:p>
          <a:p>
            <a:pPr marL="3810" algn="ctr">
              <a:spcBef>
                <a:spcPts val="2450"/>
              </a:spcBef>
            </a:pPr>
            <a:r>
              <a:rPr lang="en-US" sz="2400" spc="-2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October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>
                <a:latin typeface="Calibri"/>
                <a:ea typeface="Calibri"/>
                <a:cs typeface="Calibri"/>
              </a:rPr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536257" y="6437625"/>
            <a:ext cx="3396316" cy="194925"/>
          </a:xfrm>
          <a:prstGeom prst="rect">
            <a:avLst/>
          </a:prstGeom>
        </p:spPr>
        <p:txBody>
          <a:bodyPr vert="horz" wrap="square" lIns="0" tIns="1016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/>
              <a:t>ECE484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2</a:t>
            </a:fld>
            <a:endParaRPr spc="-50"/>
          </a:p>
        </p:txBody>
      </p:sp>
      <p:sp>
        <p:nvSpPr>
          <p:cNvPr id="3" name="object 3"/>
          <p:cNvSpPr txBox="1"/>
          <p:nvPr/>
        </p:nvSpPr>
        <p:spPr>
          <a:xfrm>
            <a:off x="731837" y="1759140"/>
            <a:ext cx="9965690" cy="2811026"/>
          </a:xfrm>
          <a:prstGeom prst="rect">
            <a:avLst/>
          </a:prstGeom>
        </p:spPr>
        <p:txBody>
          <a:bodyPr vert="horz" wrap="square" lIns="0" tIns="40640" rIns="0" bIns="0" rtlCol="0" anchor="t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1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Logistics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1042035" lvl="1" indent="-343535">
              <a:spcBef>
                <a:spcPts val="245"/>
              </a:spcBef>
              <a:buFont typeface="Arial"/>
              <a:buChar char="•"/>
              <a:tabLst>
                <a:tab pos="1042035" algn="l"/>
              </a:tabLst>
            </a:pPr>
            <a:r>
              <a:rPr lang="en-US" sz="2000" spc="-1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Pitch Presentations 10/20 and 10/22</a:t>
            </a:r>
            <a:endParaRPr lang="en-US"/>
          </a:p>
          <a:p>
            <a:pPr marL="1042035" lvl="1" indent="-343535">
              <a:spcBef>
                <a:spcPts val="245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sz="2000" spc="-1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Make sure to do your in-person safety trainings (if applicable)</a:t>
            </a:r>
          </a:p>
          <a:p>
            <a:pPr marL="1042035" lvl="1" indent="-343535">
              <a:spcBef>
                <a:spcPts val="245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sz="2000" spc="-1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Start working early on your final projects</a:t>
            </a:r>
          </a:p>
          <a:p>
            <a:pPr marL="698500" lvl="1">
              <a:spcBef>
                <a:spcPts val="245"/>
              </a:spcBef>
              <a:tabLst>
                <a:tab pos="355600" algn="l"/>
              </a:tabLst>
            </a:pPr>
            <a:endParaRPr lang="en-US" sz="2000" spc="-10">
              <a:solidFill>
                <a:srgbClr val="12294A"/>
              </a:solidFill>
              <a:latin typeface="Calibri"/>
              <a:ea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1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HW3 (individual, as always)</a:t>
            </a:r>
          </a:p>
          <a:p>
            <a:pPr marL="355600" indent="-342900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1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MP3 (within your MP Group, not final project groups, as always)</a:t>
            </a: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1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Both</a:t>
            </a:r>
            <a:r>
              <a:rPr lang="en-US" sz="2000" spc="-1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spc="-1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due on </a:t>
            </a:r>
            <a:r>
              <a:rPr lang="en-US" sz="2000" spc="-1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11/13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D05DA-9443-FE36-A90E-899998276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527430"/>
            <a:ext cx="7171690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MP3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CB4F5-415C-EDAD-1A91-7B5D516E2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941" y="1495264"/>
            <a:ext cx="9767659" cy="4747453"/>
          </a:xfrm>
        </p:spPr>
        <p:txBody>
          <a:bodyPr wrap="square" lIns="0" tIns="0" rIns="0" bIns="0" anchor="t">
            <a:spAutoFit/>
          </a:bodyPr>
          <a:lstStyle/>
          <a:p>
            <a:pPr marL="12700" marR="5080">
              <a:lnSpc>
                <a:spcPts val="2180"/>
              </a:lnSpc>
              <a:spcBef>
                <a:spcPts val="380"/>
              </a:spcBef>
            </a:pPr>
            <a:r>
              <a:rPr lang="en-US" sz="2000">
                <a:latin typeface="Calibri"/>
                <a:ea typeface="Calibri"/>
                <a:cs typeface="Calibri"/>
              </a:rPr>
              <a:t>Overall Objective: Implement a pipeline to localize drone in a drone racing environment with known gate positions.</a:t>
            </a:r>
          </a:p>
          <a:p>
            <a:pPr marL="355600" marR="5080" indent="-342900">
              <a:lnSpc>
                <a:spcPts val="2180"/>
              </a:lnSpc>
              <a:spcBef>
                <a:spcPts val="380"/>
              </a:spcBef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VIO odometry simulates</a:t>
            </a:r>
            <a:b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</a:b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visual odometry output</a:t>
            </a:r>
          </a:p>
          <a:p>
            <a:pPr marL="812800" marR="5080" lvl="1" indent="-342900">
              <a:lnSpc>
                <a:spcPts val="2180"/>
              </a:lnSpc>
              <a:spcBef>
                <a:spcPts val="380"/>
              </a:spcBef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Estimates are imperfect</a:t>
            </a:r>
          </a:p>
          <a:p>
            <a:pPr marL="812800" marR="5080" lvl="1" indent="-342900">
              <a:lnSpc>
                <a:spcPts val="2180"/>
              </a:lnSpc>
              <a:spcBef>
                <a:spcPts val="380"/>
              </a:spcBef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Will drift over time</a:t>
            </a:r>
          </a:p>
          <a:p>
            <a:pPr marL="812800" marR="5080" lvl="1" indent="-342900">
              <a:lnSpc>
                <a:spcPts val="2180"/>
              </a:lnSpc>
              <a:spcBef>
                <a:spcPts val="380"/>
              </a:spcBef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Noise can be modeled with </a:t>
            </a:r>
            <a:b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</a:b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Gaussian uncertainty</a:t>
            </a:r>
          </a:p>
          <a:p>
            <a:pPr marL="355600" marR="5080" indent="-342900">
              <a:lnSpc>
                <a:spcPts val="2180"/>
              </a:lnSpc>
              <a:spcBef>
                <a:spcPts val="380"/>
              </a:spcBef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Your group will work on all 3 stages:</a:t>
            </a:r>
          </a:p>
          <a:p>
            <a:pPr marL="812800" marR="5080" lvl="1" indent="-342900">
              <a:lnSpc>
                <a:spcPts val="2180"/>
              </a:lnSpc>
              <a:spcBef>
                <a:spcPts val="380"/>
              </a:spcBef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Image Processing</a:t>
            </a:r>
          </a:p>
          <a:p>
            <a:pPr marL="812800" marR="5080" lvl="1" indent="-342900">
              <a:lnSpc>
                <a:spcPts val="2180"/>
              </a:lnSpc>
              <a:spcBef>
                <a:spcPts val="380"/>
              </a:spcBef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PnP</a:t>
            </a:r>
          </a:p>
          <a:p>
            <a:pPr marL="812800" marR="5080" lvl="1" indent="-342900">
              <a:lnSpc>
                <a:spcPts val="2180"/>
              </a:lnSpc>
              <a:spcBef>
                <a:spcPts val="380"/>
              </a:spcBef>
              <a:buFont typeface="Arial,Sans-Serif"/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Kalman Filter Fusion</a:t>
            </a:r>
          </a:p>
          <a:p>
            <a:pPr marL="12700" marR="5080">
              <a:lnSpc>
                <a:spcPts val="2180"/>
              </a:lnSpc>
              <a:spcBef>
                <a:spcPts val="380"/>
              </a:spcBef>
            </a:pPr>
            <a:endParaRPr lang="en-US">
              <a:latin typeface="Calibri"/>
              <a:ea typeface="Calibri"/>
              <a:cs typeface="Calibri"/>
            </a:endParaRPr>
          </a:p>
          <a:p>
            <a:pPr marL="12700" marR="5080">
              <a:lnSpc>
                <a:spcPts val="2180"/>
              </a:lnSpc>
              <a:spcBef>
                <a:spcPts val="380"/>
              </a:spcBef>
            </a:pPr>
            <a:r>
              <a:rPr lang="en-US" sz="2000">
                <a:latin typeface="Segoe UI"/>
                <a:cs typeface="Segoe UI"/>
              </a:rPr>
              <a:t> </a:t>
            </a:r>
            <a:endParaRPr lang="en-US" sz="2000">
              <a:solidFill>
                <a:srgbClr val="000000"/>
              </a:solidFill>
              <a:latin typeface="Segoe UI"/>
              <a:cs typeface="Segoe UI"/>
            </a:endParaRP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FCF93C-9733-D55F-8020-1D1BD0636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967" y="2028536"/>
            <a:ext cx="6724650" cy="340042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1E742E52-BC07-064D-82C4-46DFB898EA6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6257" y="6437625"/>
            <a:ext cx="3396316" cy="194925"/>
          </a:xfrm>
          <a:prstGeom prst="rect">
            <a:avLst/>
          </a:prstGeom>
        </p:spPr>
        <p:txBody>
          <a:bodyPr vert="horz" wrap="square" lIns="0" tIns="1016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/>
              <a:t>ECE484</a:t>
            </a:r>
          </a:p>
        </p:txBody>
      </p:sp>
    </p:spTree>
    <p:extLst>
      <p:ext uri="{BB962C8B-B14F-4D97-AF65-F5344CB8AC3E}">
        <p14:creationId xmlns:p14="http://schemas.microsoft.com/office/powerpoint/2010/main" val="3103070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39901-8272-FD61-8185-8152AA24F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527430"/>
            <a:ext cx="7171690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Kalman Filter Background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B8BCA-1427-1D6A-9073-C6E564725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565" y="1585024"/>
            <a:ext cx="11056004" cy="2131353"/>
          </a:xfrm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/>
              <a:t>A state estimation algorithm for linear systems </a:t>
            </a:r>
            <a:r>
              <a:rPr lang="en-US" sz="2000">
                <a:latin typeface="Calibri"/>
                <a:ea typeface="Calibri"/>
                <a:cs typeface="Calibri"/>
              </a:rPr>
              <a:t>with </a:t>
            </a:r>
            <a:r>
              <a:rPr lang="en-US" sz="2000" b="1">
                <a:latin typeface="Calibri"/>
                <a:ea typeface="Calibri"/>
                <a:cs typeface="Calibri"/>
              </a:rPr>
              <a:t>Gaussian uncertainty.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Predicts the next state of the system and updates that estimate whenever a new measurement arrives.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KF assumes that the system evolves according to a linear Gaussian state-space model as follows.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Slides from Spring 2026: </a:t>
            </a:r>
            <a:r>
              <a:rPr lang="en-US" sz="2000">
                <a:latin typeface="Calibri"/>
                <a:ea typeface="Calibri"/>
                <a:cs typeface="Calibri"/>
                <a:hlinkClick r:id="rId3"/>
              </a:rPr>
              <a:t>https://safeautonomy-illinois.github.io/ece484-site/assets/pdfs/spring-2026/Spring26_Lecture13_KF.pdf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/>
          </a:p>
        </p:txBody>
      </p:sp>
      <p:pic>
        <p:nvPicPr>
          <p:cNvPr id="7" name="Picture 6" descr="A black background with green text&#10;&#10;AI-generated content may be incorrect.">
            <a:extLst>
              <a:ext uri="{FF2B5EF4-FFF2-40B4-BE49-F238E27FC236}">
                <a16:creationId xmlns:a16="http://schemas.microsoft.com/office/drawing/2014/main" id="{4C58DBF0-B8AE-50FF-E403-C0158176C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361" y="3824092"/>
            <a:ext cx="4352564" cy="10349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51E5ED-E93A-5151-F645-919CF9D76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8612" y="3274075"/>
            <a:ext cx="6559229" cy="2277561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ED956957-DD40-A654-7C5F-E98CC6EBAD8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6257" y="6437625"/>
            <a:ext cx="3396316" cy="194925"/>
          </a:xfrm>
          <a:prstGeom prst="rect">
            <a:avLst/>
          </a:prstGeom>
        </p:spPr>
        <p:txBody>
          <a:bodyPr vert="horz" wrap="square" lIns="0" tIns="1016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/>
              <a:t>ECE484</a:t>
            </a:r>
          </a:p>
        </p:txBody>
      </p:sp>
    </p:spTree>
    <p:extLst>
      <p:ext uri="{BB962C8B-B14F-4D97-AF65-F5344CB8AC3E}">
        <p14:creationId xmlns:p14="http://schemas.microsoft.com/office/powerpoint/2010/main" val="1155065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E243-C406-0000-7609-D0BF28C4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527430"/>
            <a:ext cx="7171690" cy="984885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/>
              <a:t>Kalman Filter Background</a:t>
            </a:r>
            <a:endParaRPr lang="en-US" b="0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C58BC-2704-E644-5043-A8ED92C25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3626" y="1296159"/>
            <a:ext cx="10464949" cy="1154162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900"/>
              <a:t>Prediction, measurement, and corrected state estimates are each represented as Gaussian distributions. </a:t>
            </a:r>
            <a:r>
              <a:rPr lang="en-US" sz="1900" u="sng"/>
              <a:t>Keep in mind that for the Kalman Filter, these steps do not have to occur in this exact order!!</a:t>
            </a:r>
          </a:p>
          <a:p>
            <a:pPr marL="285750" indent="-285750" algn="l">
              <a:buFont typeface="Calibri"/>
              <a:buChar char="-"/>
            </a:pPr>
            <a:endParaRPr lang="en-US"/>
          </a:p>
          <a:p>
            <a:endParaRPr lang="en-US"/>
          </a:p>
        </p:txBody>
      </p:sp>
      <p:pic>
        <p:nvPicPr>
          <p:cNvPr id="8" name="Picture 7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D81BDADA-D369-5210-0814-5453A5AA4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571" y="2014772"/>
            <a:ext cx="8987057" cy="4179544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F85C320E-870E-466D-E2B6-4FEFCEDED76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6257" y="6437625"/>
            <a:ext cx="3396316" cy="194925"/>
          </a:xfrm>
          <a:prstGeom prst="rect">
            <a:avLst/>
          </a:prstGeom>
        </p:spPr>
        <p:txBody>
          <a:bodyPr vert="horz" wrap="square" lIns="0" tIns="1016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/>
              <a:t>ECE484</a:t>
            </a:r>
          </a:p>
        </p:txBody>
      </p:sp>
    </p:spTree>
    <p:extLst>
      <p:ext uri="{BB962C8B-B14F-4D97-AF65-F5344CB8AC3E}">
        <p14:creationId xmlns:p14="http://schemas.microsoft.com/office/powerpoint/2010/main" val="1248716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FFC6F-170E-7DE4-E6A4-6CDD3C060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05" y="629030"/>
            <a:ext cx="9943771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Image Processing and Perspective-N-Points (PnP)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3A81-7343-92D8-4FC9-002A121B5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3847" y="1574758"/>
            <a:ext cx="2182495" cy="28469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Gate Segmentation</a:t>
            </a:r>
          </a:p>
        </p:txBody>
      </p:sp>
      <p:pic>
        <p:nvPicPr>
          <p:cNvPr id="4" name="Picture 3" descr="A green square frame in a room&#10;&#10;AI-generated content may be incorrect.">
            <a:extLst>
              <a:ext uri="{FF2B5EF4-FFF2-40B4-BE49-F238E27FC236}">
                <a16:creationId xmlns:a16="http://schemas.microsoft.com/office/drawing/2014/main" id="{1377C9A3-309E-BE3F-3CBF-9A597A895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6" y="1952296"/>
            <a:ext cx="3189789" cy="2471824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37135C0-A276-6E5E-38EF-3DEB9FC03054}"/>
              </a:ext>
            </a:extLst>
          </p:cNvPr>
          <p:cNvSpPr txBox="1">
            <a:spLocks/>
          </p:cNvSpPr>
          <p:nvPr/>
        </p:nvSpPr>
        <p:spPr>
          <a:xfrm>
            <a:off x="5048513" y="1583206"/>
            <a:ext cx="5250815" cy="2846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>
              <a:defRPr sz="1850" b="0" i="0">
                <a:solidFill>
                  <a:srgbClr val="12294A"/>
                </a:solidFill>
                <a:latin typeface="Source Sans 3"/>
                <a:ea typeface="+mn-ea"/>
                <a:cs typeface="Source Sans 3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Corner Detection 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F35EBFC-70D1-BB9C-CCDF-35BC7255A020}"/>
              </a:ext>
            </a:extLst>
          </p:cNvPr>
          <p:cNvSpPr/>
          <p:nvPr/>
        </p:nvSpPr>
        <p:spPr>
          <a:xfrm>
            <a:off x="3727837" y="3027803"/>
            <a:ext cx="632436" cy="3208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green square frame with a square hole in the middle&#10;&#10;AI-generated content may be incorrect.">
            <a:extLst>
              <a:ext uri="{FF2B5EF4-FFF2-40B4-BE49-F238E27FC236}">
                <a16:creationId xmlns:a16="http://schemas.microsoft.com/office/drawing/2014/main" id="{3740A85D-D9B2-51F3-FCB1-3B545CF25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755" y="1952296"/>
            <a:ext cx="3277119" cy="2453426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70CF5A00-9783-A255-E2AF-91E732D962CB}"/>
              </a:ext>
            </a:extLst>
          </p:cNvPr>
          <p:cNvSpPr/>
          <p:nvPr/>
        </p:nvSpPr>
        <p:spPr>
          <a:xfrm>
            <a:off x="8128667" y="3027803"/>
            <a:ext cx="632436" cy="3208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A5CF3FB-0604-4E52-710A-C857D73CEE34}"/>
              </a:ext>
            </a:extLst>
          </p:cNvPr>
          <p:cNvSpPr txBox="1">
            <a:spLocks/>
          </p:cNvSpPr>
          <p:nvPr/>
        </p:nvSpPr>
        <p:spPr>
          <a:xfrm>
            <a:off x="8984294" y="2618821"/>
            <a:ext cx="3076119" cy="11387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>
              <a:defRPr sz="1850" b="0" i="0">
                <a:solidFill>
                  <a:srgbClr val="12294A"/>
                </a:solidFill>
                <a:latin typeface="Source Sans 3"/>
                <a:ea typeface="+mn-ea"/>
                <a:cs typeface="Source Sans 3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Since map and gate positions are known, 2D pixel coordinates to 3D world coordinates of gate corners can be computed.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D82D1EA-C6E2-43A2-6804-A7A145D70E31}"/>
              </a:ext>
            </a:extLst>
          </p:cNvPr>
          <p:cNvSpPr/>
          <p:nvPr/>
        </p:nvSpPr>
        <p:spPr>
          <a:xfrm rot="5400000">
            <a:off x="10045730" y="4133588"/>
            <a:ext cx="632436" cy="3208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57C5A9-AE82-FC06-6D1B-51EF3A9459F6}"/>
              </a:ext>
            </a:extLst>
          </p:cNvPr>
          <p:cNvSpPr txBox="1">
            <a:spLocks/>
          </p:cNvSpPr>
          <p:nvPr/>
        </p:nvSpPr>
        <p:spPr>
          <a:xfrm>
            <a:off x="8984294" y="4830393"/>
            <a:ext cx="3076119" cy="8540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>
              <a:defRPr sz="1850" b="0" i="0">
                <a:solidFill>
                  <a:srgbClr val="12294A"/>
                </a:solidFill>
                <a:latin typeface="Source Sans 3"/>
                <a:ea typeface="+mn-ea"/>
                <a:cs typeface="Source Sans 3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Perspective-N-Points uses these correspondences to compute camera pose in world frame.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724E8B3-082F-35A6-3F7B-BB4FC8F77E1F}"/>
              </a:ext>
            </a:extLst>
          </p:cNvPr>
          <p:cNvSpPr txBox="1">
            <a:spLocks/>
          </p:cNvSpPr>
          <p:nvPr/>
        </p:nvSpPr>
        <p:spPr>
          <a:xfrm>
            <a:off x="454974" y="5394501"/>
            <a:ext cx="6471501" cy="2846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>
              <a:defRPr sz="1850" b="0" i="0">
                <a:solidFill>
                  <a:srgbClr val="12294A"/>
                </a:solidFill>
                <a:latin typeface="Source Sans 3"/>
                <a:ea typeface="+mn-ea"/>
                <a:cs typeface="Source Sans 3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*Segmentation, Corner detection, and PnP solve are provided. 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C4A1C698-F780-A52D-BA54-B6F1B9D61E5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6257" y="6437625"/>
            <a:ext cx="3396316" cy="194925"/>
          </a:xfrm>
          <a:prstGeom prst="rect">
            <a:avLst/>
          </a:prstGeom>
        </p:spPr>
        <p:txBody>
          <a:bodyPr vert="horz" wrap="square" lIns="0" tIns="1016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/>
              <a:t>ECE484</a:t>
            </a:r>
          </a:p>
        </p:txBody>
      </p:sp>
    </p:spTree>
    <p:extLst>
      <p:ext uri="{BB962C8B-B14F-4D97-AF65-F5344CB8AC3E}">
        <p14:creationId xmlns:p14="http://schemas.microsoft.com/office/powerpoint/2010/main" val="2638216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/>
              <a:t>Coordinate Frames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909934" y="6436893"/>
            <a:ext cx="411480" cy="21717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7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31520" y="1463040"/>
            <a:ext cx="10515600" cy="2894382"/>
          </a:xfrm>
          <a:prstGeom prst="rect">
            <a:avLst/>
          </a:prstGeom>
        </p:spPr>
        <p:txBody>
          <a:bodyPr vert="horz" wrap="square" lIns="0" tIns="107950" rIns="0" bIns="0" rtlCol="0" anchor="t">
            <a:spAutoFit/>
          </a:bodyPr>
          <a:lstStyle/>
          <a:p>
            <a:pPr marL="355600" marR="5080" indent="-342900">
              <a:spcBef>
                <a:spcPts val="380"/>
              </a:spcBef>
              <a:buFont typeface="Arial"/>
              <a:buChar char="•"/>
            </a:pPr>
            <a:r>
              <a:rPr lang="en-US" sz="2000" b="1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World Frame W: </a:t>
            </a:r>
            <a:r>
              <a:rPr lang="en-US" sz="2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fixed frame of the gate map, z up</a:t>
            </a:r>
          </a:p>
          <a:p>
            <a:pPr marL="355600" marR="5080" indent="-342900">
              <a:spcBef>
                <a:spcPts val="380"/>
              </a:spcBef>
              <a:buFont typeface="Arial"/>
              <a:buChar char="•"/>
            </a:pPr>
            <a:r>
              <a:rPr lang="en-US" sz="2000" b="1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Base Frame B: </a:t>
            </a:r>
            <a:r>
              <a:rPr lang="en-US" sz="2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attached to the drone body, x forward, y left, z up</a:t>
            </a:r>
          </a:p>
          <a:p>
            <a:pPr marL="355600" marR="5080" indent="-342900">
              <a:spcBef>
                <a:spcPts val="380"/>
              </a:spcBef>
              <a:buFont typeface="Arial"/>
              <a:buChar char="•"/>
            </a:pPr>
            <a:r>
              <a:rPr lang="en-US" sz="2000" b="1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Camera Frame C: </a:t>
            </a:r>
            <a:r>
              <a:rPr lang="en-US" sz="2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OpenCV camera frame, z out of the lens, x right, y down</a:t>
            </a:r>
          </a:p>
          <a:p>
            <a:pPr marL="12700" marR="5080">
              <a:spcBef>
                <a:spcPts val="600"/>
              </a:spcBef>
              <a:buNone/>
            </a:pPr>
            <a:endParaRPr lang="en-US" sz="2000">
              <a:solidFill>
                <a:srgbClr val="12294A"/>
              </a:solidFill>
              <a:latin typeface="Calibri"/>
              <a:ea typeface="Calibri"/>
              <a:cs typeface="Calibri"/>
            </a:endParaRPr>
          </a:p>
          <a:p>
            <a:pPr marL="355600" marR="5080" indent="-342900">
              <a:spcBef>
                <a:spcPts val="380"/>
              </a:spcBef>
              <a:buFont typeface="Arial"/>
              <a:buChar char="•"/>
            </a:pPr>
            <a:r>
              <a:rPr lang="en-US" sz="2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T</a:t>
            </a:r>
            <a:r>
              <a:rPr lang="en-US" sz="2000" baseline="-25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AB</a:t>
            </a:r>
            <a:r>
              <a:rPr lang="en-US" sz="2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 maps coordinates in frame B into frame A</a:t>
            </a:r>
          </a:p>
          <a:p>
            <a:pPr marL="355600" marR="5080" indent="-342900">
              <a:spcBef>
                <a:spcPts val="380"/>
              </a:spcBef>
              <a:buFont typeface="Arial"/>
              <a:buChar char="•"/>
            </a:pPr>
            <a:r>
              <a:rPr lang="en-US" sz="2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In the code, T</a:t>
            </a:r>
            <a:r>
              <a:rPr lang="en-US" sz="2000" baseline="-25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AB</a:t>
            </a:r>
            <a:r>
              <a:rPr lang="en-US" sz="2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 is written </a:t>
            </a:r>
            <a:r>
              <a:rPr lang="en-US" sz="2000" err="1">
                <a:solidFill>
                  <a:srgbClr val="12294A"/>
                </a:solidFill>
                <a:latin typeface="Courier New"/>
                <a:ea typeface="Courier New"/>
                <a:cs typeface="Courier New"/>
              </a:rPr>
              <a:t>T_a_b</a:t>
            </a:r>
            <a:endParaRPr lang="en-US" sz="2000">
              <a:solidFill>
                <a:srgbClr val="12294A"/>
              </a:solidFill>
              <a:latin typeface="Courier New"/>
              <a:ea typeface="Courier New"/>
              <a:cs typeface="Courier New"/>
            </a:endParaRPr>
          </a:p>
          <a:p>
            <a:pPr marL="812800" marR="5080" lvl="1" indent="-342900">
              <a:spcBef>
                <a:spcPts val="380"/>
              </a:spcBef>
              <a:buFont typeface="Arial"/>
              <a:buChar char="–"/>
            </a:pPr>
            <a:r>
              <a:rPr lang="en-US" sz="1800" err="1">
                <a:solidFill>
                  <a:srgbClr val="12294A"/>
                </a:solidFill>
                <a:latin typeface="Courier New"/>
                <a:ea typeface="Courier New"/>
                <a:cs typeface="Courier New"/>
              </a:rPr>
              <a:t>T_world_base</a:t>
            </a:r>
            <a:r>
              <a:rPr lang="en-US" sz="18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 = T</a:t>
            </a:r>
            <a:r>
              <a:rPr lang="en-US" sz="1800" baseline="-25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WB</a:t>
            </a:r>
            <a:r>
              <a:rPr lang="en-US" sz="18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: the drone pose</a:t>
            </a:r>
          </a:p>
          <a:p>
            <a:pPr marL="812800" marR="5080" lvl="1" indent="-342900">
              <a:spcBef>
                <a:spcPts val="380"/>
              </a:spcBef>
              <a:buFont typeface="Arial"/>
              <a:buChar char="–"/>
            </a:pPr>
            <a:r>
              <a:rPr lang="en-US" sz="1800" err="1">
                <a:solidFill>
                  <a:srgbClr val="12294A"/>
                </a:solidFill>
                <a:latin typeface="Courier New"/>
                <a:ea typeface="Courier New"/>
                <a:cs typeface="Courier New"/>
              </a:rPr>
              <a:t>T_base_cam</a:t>
            </a:r>
            <a:r>
              <a:rPr lang="en-US" sz="18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 = T</a:t>
            </a:r>
            <a:r>
              <a:rPr lang="en-US" sz="1800" baseline="-25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BC</a:t>
            </a:r>
            <a:r>
              <a:rPr lang="en-US" sz="18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: the camera </a:t>
            </a:r>
            <a:r>
              <a:rPr lang="en-US" sz="1800" err="1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extrinsics</a:t>
            </a:r>
            <a:endParaRPr lang="en-US" sz="1800">
              <a:solidFill>
                <a:srgbClr val="12294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9144A1B2-4705-BA25-9D19-A1E2980BB11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6257" y="6437625"/>
            <a:ext cx="3396316" cy="194925"/>
          </a:xfrm>
          <a:prstGeom prst="rect">
            <a:avLst/>
          </a:prstGeom>
        </p:spPr>
        <p:txBody>
          <a:bodyPr vert="horz" wrap="square" lIns="0" tIns="1016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/>
              <a:t>ECE484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51647" y="526676"/>
            <a:ext cx="10058400" cy="1001556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pc="-10"/>
              <a:t>Image Processing: </a:t>
            </a:r>
            <a:r>
              <a:rPr lang="en-US" altLang="zh-CN" b="0" err="1"/>
              <a:t>project_points</a:t>
            </a:r>
            <a:r>
              <a:rPr lang="en-US" altLang="zh-CN" b="0"/>
              <a:t>()</a:t>
            </a:r>
            <a:br>
              <a:rPr lang="en-US" altLang="zh-CN" b="0"/>
            </a:br>
            <a:endParaRPr lang="en-US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909934" y="6436893"/>
            <a:ext cx="411480" cy="21717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8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640857" y="1566310"/>
            <a:ext cx="5425945" cy="3386825"/>
          </a:xfrm>
          <a:prstGeom prst="rect">
            <a:avLst/>
          </a:prstGeom>
        </p:spPr>
        <p:txBody>
          <a:bodyPr vert="horz" wrap="square" lIns="0" tIns="107950" rIns="0" bIns="0" rtlCol="0" anchor="t">
            <a:spAutoFit/>
          </a:bodyPr>
          <a:lstStyle/>
          <a:p>
            <a:pPr marL="12700" marR="5080">
              <a:spcBef>
                <a:spcPts val="700"/>
              </a:spcBef>
            </a:pPr>
            <a:r>
              <a:rPr lang="en-US" sz="22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Predict where known gate corners should appear in the camera image. The predictions help with corner detection and gate matching.</a:t>
            </a:r>
          </a:p>
          <a:p>
            <a:pPr marL="12700" marR="5080">
              <a:spcBef>
                <a:spcPts val="600"/>
              </a:spcBef>
            </a:pPr>
            <a:r>
              <a:rPr lang="en-US" sz="2200" b="1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Input: </a:t>
            </a:r>
            <a:r>
              <a:rPr lang="en-US" sz="22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3D position of gate corners in the world, drone pose T</a:t>
            </a:r>
            <a:r>
              <a:rPr lang="en-US" sz="2200" baseline="-25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WB</a:t>
            </a:r>
            <a:r>
              <a:rPr lang="en-US" sz="22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, camera extrinsic T</a:t>
            </a:r>
            <a:r>
              <a:rPr lang="en-US" sz="2200" baseline="-25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BC</a:t>
            </a:r>
            <a:r>
              <a:rPr lang="en-US" sz="22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, camera matrix K</a:t>
            </a:r>
          </a:p>
          <a:p>
            <a:pPr marL="12700" marR="5080">
              <a:spcBef>
                <a:spcPts val="600"/>
              </a:spcBef>
            </a:pPr>
            <a:r>
              <a:rPr lang="en-US" sz="2200" b="1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Output: </a:t>
            </a:r>
            <a:r>
              <a:rPr lang="en-US" sz="22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pixel coordinates, and the corresponding points in the camera frame</a:t>
            </a:r>
          </a:p>
          <a:p>
            <a:pPr marL="12700" marR="5080">
              <a:spcBef>
                <a:spcPts val="600"/>
              </a:spcBef>
            </a:pPr>
            <a:r>
              <a:rPr lang="en-US" sz="2200" b="1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Notes: </a:t>
            </a:r>
            <a:r>
              <a:rPr lang="en-US" sz="22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Do not use </a:t>
            </a:r>
            <a:r>
              <a:rPr lang="en-US" sz="2200">
                <a:solidFill>
                  <a:srgbClr val="12294A"/>
                </a:solidFill>
                <a:latin typeface="Courier New"/>
                <a:ea typeface="Courier New"/>
                <a:cs typeface="Courier New"/>
              </a:rPr>
              <a:t>cv2.projectPoints</a:t>
            </a:r>
          </a:p>
        </p:txBody>
      </p:sp>
      <p:pic>
        <p:nvPicPr>
          <p:cNvPr id="6" name="Figure project_points()" descr="fig_project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198" y="1528232"/>
            <a:ext cx="5425945" cy="4084413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F01E9CDE-EB0F-BCF2-4AF8-61C0C9AA66D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6257" y="6437625"/>
            <a:ext cx="3396316" cy="194925"/>
          </a:xfrm>
          <a:prstGeom prst="rect">
            <a:avLst/>
          </a:prstGeom>
        </p:spPr>
        <p:txBody>
          <a:bodyPr vert="horz" wrap="square" lIns="0" tIns="1016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/>
              <a:t>ECE484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51647" y="526676"/>
            <a:ext cx="100584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pc="-10"/>
              <a:t>Image Processing: </a:t>
            </a:r>
            <a:r>
              <a:rPr lang="en-US" altLang="zh-CN" b="0" err="1"/>
              <a:t>project_position_uncertainty</a:t>
            </a:r>
            <a:r>
              <a:rPr lang="en-US" altLang="zh-CN" b="0"/>
              <a:t>()</a:t>
            </a:r>
            <a:endParaRPr lang="en-US" spc="-1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909934" y="6436893"/>
            <a:ext cx="411480" cy="21717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9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830568" y="1834545"/>
            <a:ext cx="4287968" cy="3586879"/>
          </a:xfrm>
          <a:prstGeom prst="rect">
            <a:avLst/>
          </a:prstGeom>
        </p:spPr>
        <p:txBody>
          <a:bodyPr vert="horz" wrap="square" lIns="0" tIns="107950" rIns="0" bIns="0" rtlCol="0" anchor="t">
            <a:spAutoFit/>
          </a:bodyPr>
          <a:lstStyle/>
          <a:p>
            <a:pPr marL="12700" marR="5080">
              <a:spcBef>
                <a:spcPts val="700"/>
              </a:spcBef>
              <a:buNone/>
            </a:pPr>
            <a:r>
              <a:rPr lang="en-US" sz="24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The Kalman Filter </a:t>
            </a:r>
            <a:r>
              <a:rPr lang="en-US" altLang="zh-CN" sz="24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models the drone's position as a Gaussian.</a:t>
            </a:r>
          </a:p>
          <a:p>
            <a:pPr marL="12700" marR="5080">
              <a:spcBef>
                <a:spcPts val="600"/>
              </a:spcBef>
              <a:buNone/>
            </a:pPr>
            <a:r>
              <a:rPr lang="en-US" altLang="zh-CN" sz="24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Using this pose to project gate centers onto the image gives each predicted gate an </a:t>
            </a:r>
            <a:r>
              <a:rPr lang="en-US" altLang="zh-CN" sz="2400" b="1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approximately</a:t>
            </a:r>
            <a:r>
              <a:rPr lang="en-US" altLang="zh-CN" sz="24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 Gaussian spread in pixels. </a:t>
            </a:r>
          </a:p>
          <a:p>
            <a:pPr marL="12700" marR="5080">
              <a:spcBef>
                <a:spcPts val="600"/>
              </a:spcBef>
              <a:buNone/>
            </a:pPr>
            <a:r>
              <a:rPr lang="en-US" altLang="zh-CN" sz="24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The pixel </a:t>
            </a:r>
            <a:r>
              <a:rPr lang="en-US" altLang="zh-CN" sz="2400" err="1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σ</a:t>
            </a:r>
            <a:r>
              <a:rPr lang="en-US" altLang="zh-CN" sz="24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 decides how far from the prediction a detection can be and still match the gate.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3E2B0BAC-B30A-FD20-2E2F-DBBA7B1F034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6257" y="6437625"/>
            <a:ext cx="3396316" cy="194925"/>
          </a:xfrm>
          <a:prstGeom prst="rect">
            <a:avLst/>
          </a:prstGeom>
        </p:spPr>
        <p:txBody>
          <a:bodyPr vert="horz" wrap="square" lIns="0" tIns="1016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/>
              <a:t>ECE484</a:t>
            </a:r>
          </a:p>
        </p:txBody>
      </p:sp>
      <p:graphicFrame>
        <p:nvGraphicFramePr>
          <p:cNvPr id="8" name="Chart: position belief">
            <a:extLst>
              <a:ext uri="{FF2B5EF4-FFF2-40B4-BE49-F238E27FC236}">
                <a16:creationId xmlns:a16="http://schemas.microsoft.com/office/drawing/2014/main" id="{F7E106C2-B9FC-1539-9C0F-B231A4CE3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566061"/>
              </p:ext>
            </p:extLst>
          </p:nvPr>
        </p:nvGraphicFramePr>
        <p:xfrm>
          <a:off x="5225060" y="1953261"/>
          <a:ext cx="260604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: pixel spread">
            <a:extLst>
              <a:ext uri="{FF2B5EF4-FFF2-40B4-BE49-F238E27FC236}">
                <a16:creationId xmlns:a16="http://schemas.microsoft.com/office/drawing/2014/main" id="{09456688-4542-1AC3-1E54-2E5A76712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872729"/>
              </p:ext>
            </p:extLst>
          </p:nvPr>
        </p:nvGraphicFramePr>
        <p:xfrm>
          <a:off x="8882660" y="1953261"/>
          <a:ext cx="260604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ubtitle left">
            <a:extLst>
              <a:ext uri="{FF2B5EF4-FFF2-40B4-BE49-F238E27FC236}">
                <a16:creationId xmlns:a16="http://schemas.microsoft.com/office/drawing/2014/main" id="{467D19FC-CBC9-2288-C17E-66D451DFFDC2}"/>
              </a:ext>
            </a:extLst>
          </p:cNvPr>
          <p:cNvSpPr txBox="1"/>
          <p:nvPr/>
        </p:nvSpPr>
        <p:spPr>
          <a:xfrm>
            <a:off x="5225060" y="1678941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kern="0"/>
            </a:defPPr>
          </a:lstStyle>
          <a:p>
            <a:pPr marL="12700" marR="5080" algn="ctr">
              <a:spcBef>
                <a:spcPts val="0"/>
              </a:spcBef>
              <a:buNone/>
            </a:pPr>
            <a:r>
              <a:rPr lang="en-US" sz="11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KF position belief (Gaussian)</a:t>
            </a:r>
          </a:p>
        </p:txBody>
      </p:sp>
      <p:sp>
        <p:nvSpPr>
          <p:cNvPr id="13" name="Subtitle right">
            <a:extLst>
              <a:ext uri="{FF2B5EF4-FFF2-40B4-BE49-F238E27FC236}">
                <a16:creationId xmlns:a16="http://schemas.microsoft.com/office/drawing/2014/main" id="{905E2C6F-261D-275C-5503-C2A9488708E1}"/>
              </a:ext>
            </a:extLst>
          </p:cNvPr>
          <p:cNvSpPr txBox="1"/>
          <p:nvPr/>
        </p:nvSpPr>
        <p:spPr>
          <a:xfrm>
            <a:off x="9079222" y="1800112"/>
            <a:ext cx="26060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kern="0"/>
            </a:defPPr>
          </a:lstStyle>
          <a:p>
            <a:pPr marL="12700" marR="5080" algn="ctr">
              <a:spcBef>
                <a:spcPts val="0"/>
              </a:spcBef>
              <a:buNone/>
            </a:pPr>
            <a:r>
              <a:rPr lang="en-US" sz="11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pixel belief (≈ Gaussian)</a:t>
            </a:r>
          </a:p>
        </p:txBody>
      </p:sp>
      <p:sp>
        <p:nvSpPr>
          <p:cNvPr id="14" name="Sigma label">
            <a:extLst>
              <a:ext uri="{FF2B5EF4-FFF2-40B4-BE49-F238E27FC236}">
                <a16:creationId xmlns:a16="http://schemas.microsoft.com/office/drawing/2014/main" id="{C76E192E-C284-B50C-39FB-50D39CB03BCF}"/>
              </a:ext>
            </a:extLst>
          </p:cNvPr>
          <p:cNvSpPr txBox="1"/>
          <p:nvPr/>
        </p:nvSpPr>
        <p:spPr>
          <a:xfrm>
            <a:off x="7053860" y="1998981"/>
            <a:ext cx="868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kern="0"/>
            </a:defPPr>
          </a:lstStyle>
          <a:p>
            <a:pPr marL="12700" marR="5080" algn="l">
              <a:spcBef>
                <a:spcPts val="0"/>
              </a:spcBef>
              <a:buNone/>
            </a:pPr>
            <a:r>
              <a:rPr lang="en-US" sz="1050" b="1">
                <a:solidFill>
                  <a:srgbClr val="1F6FD1"/>
                </a:solidFill>
                <a:latin typeface="Calibri"/>
                <a:ea typeface="Calibri"/>
                <a:cs typeface="Calibri"/>
              </a:rPr>
              <a:t>dashed: ±σ
σ = 0.3 m</a:t>
            </a:r>
          </a:p>
        </p:txBody>
      </p:sp>
      <p:sp>
        <p:nvSpPr>
          <p:cNvPr id="15" name="Label far">
            <a:extLst>
              <a:ext uri="{FF2B5EF4-FFF2-40B4-BE49-F238E27FC236}">
                <a16:creationId xmlns:a16="http://schemas.microsoft.com/office/drawing/2014/main" id="{552DD8F3-DBE3-9116-47CF-C4DFB0442869}"/>
              </a:ext>
            </a:extLst>
          </p:cNvPr>
          <p:cNvSpPr txBox="1"/>
          <p:nvPr/>
        </p:nvSpPr>
        <p:spPr>
          <a:xfrm>
            <a:off x="8974100" y="20904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kern="0"/>
            </a:defPPr>
          </a:lstStyle>
          <a:p>
            <a:pPr marL="12700" marR="5080" algn="l">
              <a:spcBef>
                <a:spcPts val="0"/>
              </a:spcBef>
              <a:buNone/>
            </a:pPr>
            <a:r>
              <a:rPr lang="en-US" sz="1050" b="1">
                <a:solidFill>
                  <a:srgbClr val="E84A27"/>
                </a:solidFill>
                <a:latin typeface="Calibri"/>
                <a:ea typeface="Calibri"/>
                <a:cs typeface="Calibri"/>
              </a:rPr>
              <a:t>far gate (15 m)
σ = 11 px</a:t>
            </a:r>
          </a:p>
        </p:txBody>
      </p:sp>
      <p:sp>
        <p:nvSpPr>
          <p:cNvPr id="16" name="Label near">
            <a:extLst>
              <a:ext uri="{FF2B5EF4-FFF2-40B4-BE49-F238E27FC236}">
                <a16:creationId xmlns:a16="http://schemas.microsoft.com/office/drawing/2014/main" id="{408B4ADF-2907-72C4-9714-AB52E50AD364}"/>
              </a:ext>
            </a:extLst>
          </p:cNvPr>
          <p:cNvSpPr txBox="1"/>
          <p:nvPr/>
        </p:nvSpPr>
        <p:spPr>
          <a:xfrm>
            <a:off x="10574300" y="20904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kern="0"/>
            </a:defPPr>
          </a:lstStyle>
          <a:p>
            <a:pPr marL="12700" marR="5080" algn="l">
              <a:spcBef>
                <a:spcPts val="0"/>
              </a:spcBef>
              <a:buNone/>
            </a:pPr>
            <a:r>
              <a:rPr lang="en-US" sz="1050" b="1">
                <a:solidFill>
                  <a:srgbClr val="D81B9C"/>
                </a:solidFill>
                <a:latin typeface="Calibri"/>
                <a:ea typeface="Calibri"/>
                <a:cs typeface="Calibri"/>
              </a:rPr>
              <a:t>near gate (8 m)
σ = 21 px</a:t>
            </a:r>
          </a:p>
        </p:txBody>
      </p:sp>
      <p:sp>
        <p:nvSpPr>
          <p:cNvPr id="17" name="Arrow: project">
            <a:extLst>
              <a:ext uri="{FF2B5EF4-FFF2-40B4-BE49-F238E27FC236}">
                <a16:creationId xmlns:a16="http://schemas.microsoft.com/office/drawing/2014/main" id="{338D828D-D41C-48DA-4F6C-F414F88B3AF2}"/>
              </a:ext>
            </a:extLst>
          </p:cNvPr>
          <p:cNvSpPr/>
          <p:nvPr/>
        </p:nvSpPr>
        <p:spPr>
          <a:xfrm>
            <a:off x="7968260" y="2776221"/>
            <a:ext cx="777240" cy="256032"/>
          </a:xfrm>
          <a:prstGeom prst="rightArrow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0"/>
            </a:defPPr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Arrow label">
            <a:extLst>
              <a:ext uri="{FF2B5EF4-FFF2-40B4-BE49-F238E27FC236}">
                <a16:creationId xmlns:a16="http://schemas.microsoft.com/office/drawing/2014/main" id="{1EA54523-1C21-9856-3F44-6D7A835B6729}"/>
              </a:ext>
            </a:extLst>
          </p:cNvPr>
          <p:cNvSpPr txBox="1"/>
          <p:nvPr/>
        </p:nvSpPr>
        <p:spPr>
          <a:xfrm>
            <a:off x="7815772" y="2409346"/>
            <a:ext cx="10515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kern="0"/>
            </a:defPPr>
          </a:lstStyle>
          <a:p>
            <a:pPr marL="12700" marR="5080" algn="ctr">
              <a:spcBef>
                <a:spcPts val="0"/>
              </a:spcBef>
              <a:buNone/>
            </a:pPr>
            <a:r>
              <a:rPr lang="en-US" sz="12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projected onto the image</a:t>
            </a:r>
          </a:p>
        </p:txBody>
      </p:sp>
      <p:pic>
        <p:nvPicPr>
          <p:cNvPr id="19" name="Camera frame (plain)">
            <a:extLst>
              <a:ext uri="{FF2B5EF4-FFF2-40B4-BE49-F238E27FC236}">
                <a16:creationId xmlns:a16="http://schemas.microsoft.com/office/drawing/2014/main" id="{AB96FE2C-4645-CEDA-0E44-0959C2C54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660" y="3827781"/>
            <a:ext cx="2640438" cy="2194560"/>
          </a:xfrm>
          <a:prstGeom prst="rect">
            <a:avLst/>
          </a:prstGeom>
        </p:spPr>
      </p:pic>
      <p:sp>
        <p:nvSpPr>
          <p:cNvPr id="20" name="Gate outline (near)">
            <a:extLst>
              <a:ext uri="{FF2B5EF4-FFF2-40B4-BE49-F238E27FC236}">
                <a16:creationId xmlns:a16="http://schemas.microsoft.com/office/drawing/2014/main" id="{897E426F-9AAA-C039-8420-6B0A23353A48}"/>
              </a:ext>
            </a:extLst>
          </p:cNvPr>
          <p:cNvSpPr/>
          <p:nvPr/>
        </p:nvSpPr>
        <p:spPr>
          <a:xfrm>
            <a:off x="7458016" y="4458420"/>
            <a:ext cx="1198299" cy="1390585"/>
          </a:xfrm>
          <a:custGeom>
            <a:avLst/>
            <a:gdLst/>
            <a:ahLst/>
            <a:cxnLst/>
            <a:rect l="l" t="t" r="r" b="b"/>
            <a:pathLst>
              <a:path w="1198299" h="1390585">
                <a:moveTo>
                  <a:pt x="10938" y="65280"/>
                </a:moveTo>
                <a:lnTo>
                  <a:pt x="1198299" y="0"/>
                </a:lnTo>
                <a:lnTo>
                  <a:pt x="1179558" y="1390585"/>
                </a:lnTo>
                <a:lnTo>
                  <a:pt x="0" y="1264555"/>
                </a:lnTo>
                <a:lnTo>
                  <a:pt x="10938" y="65280"/>
                </a:lnTo>
                <a:close/>
              </a:path>
            </a:pathLst>
          </a:custGeom>
          <a:noFill/>
          <a:ln w="15875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0"/>
            </a:defPPr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2σ circle (near)">
            <a:extLst>
              <a:ext uri="{FF2B5EF4-FFF2-40B4-BE49-F238E27FC236}">
                <a16:creationId xmlns:a16="http://schemas.microsoft.com/office/drawing/2014/main" id="{1F3CA00A-D96B-EEDA-D591-41039FE66379}"/>
              </a:ext>
            </a:extLst>
          </p:cNvPr>
          <p:cNvSpPr/>
          <p:nvPr/>
        </p:nvSpPr>
        <p:spPr>
          <a:xfrm>
            <a:off x="7768877" y="4852187"/>
            <a:ext cx="572675" cy="572675"/>
          </a:xfrm>
          <a:prstGeom prst="ellipse">
            <a:avLst/>
          </a:prstGeom>
          <a:solidFill>
            <a:srgbClr val="D81B9C">
              <a:alpha val="30000"/>
            </a:srgbClr>
          </a:solidFill>
          <a:ln w="22225">
            <a:solidFill>
              <a:srgbClr val="D81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0"/>
            </a:defPPr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Predicted centre (near)">
            <a:extLst>
              <a:ext uri="{FF2B5EF4-FFF2-40B4-BE49-F238E27FC236}">
                <a16:creationId xmlns:a16="http://schemas.microsoft.com/office/drawing/2014/main" id="{D984EAE4-484B-FE27-9F4E-93DF0A9D85C5}"/>
              </a:ext>
            </a:extLst>
          </p:cNvPr>
          <p:cNvSpPr/>
          <p:nvPr/>
        </p:nvSpPr>
        <p:spPr>
          <a:xfrm>
            <a:off x="7972919" y="5056229"/>
            <a:ext cx="164592" cy="164592"/>
          </a:xfrm>
          <a:prstGeom prst="mathPlus">
            <a:avLst/>
          </a:prstGeom>
          <a:solidFill>
            <a:srgbClr val="D81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0"/>
            </a:defPPr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" name="Gate outline (far)">
            <a:extLst>
              <a:ext uri="{FF2B5EF4-FFF2-40B4-BE49-F238E27FC236}">
                <a16:creationId xmlns:a16="http://schemas.microsoft.com/office/drawing/2014/main" id="{00FBB2A5-2437-AA68-1045-DDD4F855C7D5}"/>
              </a:ext>
            </a:extLst>
          </p:cNvPr>
          <p:cNvSpPr/>
          <p:nvPr/>
        </p:nvSpPr>
        <p:spPr>
          <a:xfrm>
            <a:off x="8740684" y="4004181"/>
            <a:ext cx="520424" cy="1458373"/>
          </a:xfrm>
          <a:custGeom>
            <a:avLst/>
            <a:gdLst/>
            <a:ahLst/>
            <a:cxnLst/>
            <a:rect l="l" t="t" r="r" b="b"/>
            <a:pathLst>
              <a:path w="520424" h="1458373">
                <a:moveTo>
                  <a:pt x="17277" y="144005"/>
                </a:moveTo>
                <a:lnTo>
                  <a:pt x="520424" y="0"/>
                </a:lnTo>
                <a:lnTo>
                  <a:pt x="497573" y="1458373"/>
                </a:lnTo>
                <a:lnTo>
                  <a:pt x="0" y="1390376"/>
                </a:lnTo>
                <a:lnTo>
                  <a:pt x="17277" y="144005"/>
                </a:lnTo>
                <a:close/>
              </a:path>
            </a:pathLst>
          </a:custGeom>
          <a:noFill/>
          <a:ln w="15875">
            <a:solidFill>
              <a:srgbClr val="FFFF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0"/>
            </a:defPPr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2σ circle (far)">
            <a:extLst>
              <a:ext uri="{FF2B5EF4-FFF2-40B4-BE49-F238E27FC236}">
                <a16:creationId xmlns:a16="http://schemas.microsoft.com/office/drawing/2014/main" id="{EDC3C31A-AAA0-B24E-B2DA-F5D8A986ABCC}"/>
              </a:ext>
            </a:extLst>
          </p:cNvPr>
          <p:cNvSpPr/>
          <p:nvPr/>
        </p:nvSpPr>
        <p:spPr>
          <a:xfrm>
            <a:off x="8844420" y="4597270"/>
            <a:ext cx="310164" cy="310164"/>
          </a:xfrm>
          <a:prstGeom prst="ellipse">
            <a:avLst/>
          </a:prstGeom>
          <a:solidFill>
            <a:srgbClr val="E84A27">
              <a:alpha val="30000"/>
            </a:srgbClr>
          </a:solidFill>
          <a:ln w="22225">
            <a:solidFill>
              <a:srgbClr val="E84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0"/>
            </a:defPPr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Predicted centre (far)">
            <a:extLst>
              <a:ext uri="{FF2B5EF4-FFF2-40B4-BE49-F238E27FC236}">
                <a16:creationId xmlns:a16="http://schemas.microsoft.com/office/drawing/2014/main" id="{C6701F1C-B187-AB11-2F7D-E528D1B4228F}"/>
              </a:ext>
            </a:extLst>
          </p:cNvPr>
          <p:cNvSpPr/>
          <p:nvPr/>
        </p:nvSpPr>
        <p:spPr>
          <a:xfrm>
            <a:off x="8917206" y="4670056"/>
            <a:ext cx="164592" cy="164592"/>
          </a:xfrm>
          <a:prstGeom prst="mathPlus">
            <a:avLst/>
          </a:prstGeom>
          <a:solidFill>
            <a:srgbClr val="E84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0"/>
            </a:defPPr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Photo label">
            <a:extLst>
              <a:ext uri="{FF2B5EF4-FFF2-40B4-BE49-F238E27FC236}">
                <a16:creationId xmlns:a16="http://schemas.microsoft.com/office/drawing/2014/main" id="{83480DAC-B3F2-06EC-A01D-3F9675626704}"/>
              </a:ext>
            </a:extLst>
          </p:cNvPr>
          <p:cNvSpPr txBox="1"/>
          <p:nvPr/>
        </p:nvSpPr>
        <p:spPr>
          <a:xfrm>
            <a:off x="7091524" y="3882645"/>
            <a:ext cx="2377440" cy="153888"/>
          </a:xfrm>
          <a:prstGeom prst="rect">
            <a:avLst/>
          </a:prstGeom>
          <a:solidFill>
            <a:srgbClr val="FFFFFF">
              <a:alpha val="85000"/>
            </a:srgbClr>
          </a:solidFill>
        </p:spPr>
        <p:txBody>
          <a:bodyPr wrap="square" lIns="0" tIns="0" rIns="0" bIns="0">
            <a:spAutoFit/>
          </a:bodyPr>
          <a:lstStyle>
            <a:defPPr>
              <a:defRPr kern="0"/>
            </a:defPPr>
          </a:lstStyle>
          <a:p>
            <a:pPr marL="12700" marR="5080" algn="l">
              <a:spcBef>
                <a:spcPts val="0"/>
              </a:spcBef>
              <a:buNone/>
            </a:pPr>
            <a:r>
              <a:rPr lang="en-US" sz="1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Search region around each predicted gate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51647" y="515471"/>
            <a:ext cx="10058400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pc="-10"/>
              <a:t>Image Processing: </a:t>
            </a:r>
            <a:r>
              <a:rPr lang="en-US" altLang="zh-CN" b="0" err="1"/>
              <a:t>associate_detections</a:t>
            </a:r>
            <a:r>
              <a:rPr lang="en-US" altLang="zh-CN" b="0"/>
              <a:t>()</a:t>
            </a:r>
            <a:br>
              <a:rPr lang="en-US" altLang="zh-CN" b="0"/>
            </a:br>
            <a:endParaRPr spc="-1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909934" y="6436893"/>
            <a:ext cx="411480" cy="21717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10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549339" y="1517027"/>
            <a:ext cx="3996452" cy="2994409"/>
          </a:xfrm>
          <a:prstGeom prst="rect">
            <a:avLst/>
          </a:prstGeom>
        </p:spPr>
        <p:txBody>
          <a:bodyPr vert="horz" wrap="square" lIns="0" tIns="107950" rIns="0" bIns="0" rtlCol="0" anchor="t">
            <a:spAutoFit/>
          </a:bodyPr>
          <a:lstStyle/>
          <a:p>
            <a:pPr marL="12700" marR="5080">
              <a:spcBef>
                <a:spcPts val="300"/>
              </a:spcBef>
            </a:pPr>
            <a:r>
              <a:rPr lang="en-US" sz="2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Segmentation finds gates in the image but not which gate it is in the map.</a:t>
            </a:r>
          </a:p>
          <a:p>
            <a:pPr marL="12700" marR="5080">
              <a:spcBef>
                <a:spcPts val="300"/>
              </a:spcBef>
            </a:pPr>
            <a:r>
              <a:rPr lang="en-US" sz="2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You will need match them to the gates predicted from the Kalman Filter pose.</a:t>
            </a:r>
          </a:p>
          <a:p>
            <a:pPr marL="298450" marR="5080" indent="-285750">
              <a:spcBef>
                <a:spcPts val="300"/>
              </a:spcBef>
              <a:buFontTx/>
              <a:buChar char="-"/>
            </a:pPr>
            <a:r>
              <a:rPr lang="en-US" sz="2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Use a cost function to assign costs from each detected gate to the gates in the map</a:t>
            </a:r>
          </a:p>
          <a:p>
            <a:pPr marL="298450" marR="5080" indent="-285750">
              <a:spcBef>
                <a:spcPts val="300"/>
              </a:spcBef>
              <a:buFontTx/>
              <a:buChar char="-"/>
            </a:pPr>
            <a:r>
              <a:rPr lang="en-US" sz="2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Match one-to-one lowest cost pairs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887167B8-F6E1-879A-BB9D-2F52F54BBC7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6257" y="6437625"/>
            <a:ext cx="3396316" cy="194925"/>
          </a:xfrm>
          <a:prstGeom prst="rect">
            <a:avLst/>
          </a:prstGeom>
        </p:spPr>
        <p:txBody>
          <a:bodyPr vert="horz" wrap="square" lIns="0" tIns="1016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/>
              <a:t>ECE484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2BE35F-0D80-EB40-0D23-0F50B3632D4B}"/>
                  </a:ext>
                </a:extLst>
              </p:cNvPr>
              <p:cNvSpPr txBox="1"/>
              <p:nvPr/>
            </p:nvSpPr>
            <p:spPr>
              <a:xfrm>
                <a:off x="654348" y="4762294"/>
                <a:ext cx="3603422" cy="573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𝑑𝑒𝑡</m:t>
                          </m:r>
                          <m:r>
                            <m:rPr>
                              <m:lit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𝑐𝑒𝑛𝑡𝑒𝑟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𝑝𝑟𝑒𝑑</m:t>
                          </m:r>
                          <m:r>
                            <m:rPr>
                              <m:lit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𝑐𝑒𝑛𝑡𝑒𝑟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𝑢𝑛𝑐𝑒𝑟𝑡𝑎𝑖𝑛𝑡𝑦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2BE35F-0D80-EB40-0D23-0F50B3632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48" y="4762294"/>
                <a:ext cx="3603422" cy="5732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2" name="Gate matching figure">
            <a:extLst>
              <a:ext uri="{FF2B5EF4-FFF2-40B4-BE49-F238E27FC236}">
                <a16:creationId xmlns:a16="http://schemas.microsoft.com/office/drawing/2014/main" id="{2C1A2D48-8D79-3457-45B7-EC998ED066AB}"/>
              </a:ext>
            </a:extLst>
          </p:cNvPr>
          <p:cNvGrpSpPr/>
          <p:nvPr/>
        </p:nvGrpSpPr>
        <p:grpSpPr>
          <a:xfrm>
            <a:off x="4607939" y="1313925"/>
            <a:ext cx="7308753" cy="4489704"/>
            <a:chOff x="4526280" y="1463040"/>
            <a:chExt cx="7308753" cy="4489704"/>
          </a:xfrm>
        </p:grpSpPr>
        <p:sp>
          <p:nvSpPr>
            <p:cNvPr id="93" name="Map frame">
              <a:extLst>
                <a:ext uri="{FF2B5EF4-FFF2-40B4-BE49-F238E27FC236}">
                  <a16:creationId xmlns:a16="http://schemas.microsoft.com/office/drawing/2014/main" id="{30D579D5-630D-FAF3-1A47-7667FE5E29F9}"/>
                </a:ext>
              </a:extLst>
            </p:cNvPr>
            <p:cNvSpPr/>
            <p:nvPr/>
          </p:nvSpPr>
          <p:spPr>
            <a:xfrm>
              <a:off x="4526280" y="1463040"/>
              <a:ext cx="2493818" cy="3429000"/>
            </a:xfrm>
            <a:prstGeom prst="rect">
              <a:avLst/>
            </a:prstGeom>
            <a:noFill/>
            <a:ln w="9525">
              <a:solidFill>
                <a:srgbClr val="8A94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94" name="Map title">
              <a:extLst>
                <a:ext uri="{FF2B5EF4-FFF2-40B4-BE49-F238E27FC236}">
                  <a16:creationId xmlns:a16="http://schemas.microsoft.com/office/drawing/2014/main" id="{79F41999-9248-A9A5-5BEF-2E908F7835B4}"/>
                </a:ext>
              </a:extLst>
            </p:cNvPr>
            <p:cNvSpPr txBox="1"/>
            <p:nvPr/>
          </p:nvSpPr>
          <p:spPr>
            <a:xfrm>
              <a:off x="6059978" y="1499616"/>
              <a:ext cx="914400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</a:lstStyle>
            <a:p>
              <a:pPr marL="12700" marR="5080" algn="r">
                <a:spcBef>
                  <a:spcPts val="0"/>
                </a:spcBef>
                <a:buNone/>
              </a:pPr>
              <a:r>
                <a:rPr lang="en-US" sz="1000">
                  <a:solidFill>
                    <a:srgbClr val="12294A"/>
                  </a:solidFill>
                  <a:latin typeface="Calibri"/>
                  <a:ea typeface="Calibri"/>
                  <a:cs typeface="Calibri"/>
                </a:rPr>
                <a:t>Map (top-down)</a:t>
              </a:r>
            </a:p>
          </p:txBody>
        </p:sp>
        <p:cxnSp>
          <p:nvCxnSpPr>
            <p:cNvPr id="95" name="Map gate 1">
              <a:extLst>
                <a:ext uri="{FF2B5EF4-FFF2-40B4-BE49-F238E27FC236}">
                  <a16:creationId xmlns:a16="http://schemas.microsoft.com/office/drawing/2014/main" id="{48B39079-CAB2-E26C-95E9-2F6485078F1E}"/>
                </a:ext>
              </a:extLst>
            </p:cNvPr>
            <p:cNvCxnSpPr/>
            <p:nvPr/>
          </p:nvCxnSpPr>
          <p:spPr>
            <a:xfrm flipV="1">
              <a:off x="5669280" y="1530580"/>
              <a:ext cx="0" cy="280555"/>
            </a:xfrm>
            <a:prstGeom prst="line">
              <a:avLst/>
            </a:prstGeom>
            <a:ln w="50800">
              <a:solidFill>
                <a:srgbClr val="E84A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Map label 1">
              <a:extLst>
                <a:ext uri="{FF2B5EF4-FFF2-40B4-BE49-F238E27FC236}">
                  <a16:creationId xmlns:a16="http://schemas.microsoft.com/office/drawing/2014/main" id="{0E4034EB-FEA5-F11B-6A7D-F3C0B46FE1F1}"/>
                </a:ext>
              </a:extLst>
            </p:cNvPr>
            <p:cNvSpPr txBox="1"/>
            <p:nvPr/>
          </p:nvSpPr>
          <p:spPr>
            <a:xfrm>
              <a:off x="5760720" y="1481328"/>
              <a:ext cx="320040" cy="20116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</a:lstStyle>
            <a:p>
              <a:pPr marL="12700" marR="5080" algn="l">
                <a:spcBef>
                  <a:spcPts val="0"/>
                </a:spcBef>
                <a:buNone/>
              </a:pPr>
              <a:r>
                <a:rPr lang="en-US" sz="1100" b="1">
                  <a:solidFill>
                    <a:srgbClr val="12294A"/>
                  </a:solidFill>
                  <a:latin typeface="Calibri"/>
                  <a:ea typeface="Calibri"/>
                  <a:cs typeface="Calibri"/>
                </a:rPr>
                <a:t>1</a:t>
              </a:r>
            </a:p>
          </p:txBody>
        </p:sp>
        <p:cxnSp>
          <p:nvCxnSpPr>
            <p:cNvPr id="97" name="Map gate 2">
              <a:extLst>
                <a:ext uri="{FF2B5EF4-FFF2-40B4-BE49-F238E27FC236}">
                  <a16:creationId xmlns:a16="http://schemas.microsoft.com/office/drawing/2014/main" id="{15EC79B1-3E84-1AF5-70DF-6693D4EFA182}"/>
                </a:ext>
              </a:extLst>
            </p:cNvPr>
            <p:cNvCxnSpPr/>
            <p:nvPr/>
          </p:nvCxnSpPr>
          <p:spPr>
            <a:xfrm flipV="1">
              <a:off x="6193501" y="1987261"/>
              <a:ext cx="198466" cy="198466"/>
            </a:xfrm>
            <a:prstGeom prst="line">
              <a:avLst/>
            </a:prstGeom>
            <a:ln w="38100">
              <a:solidFill>
                <a:srgbClr val="8A94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Map label 2">
              <a:extLst>
                <a:ext uri="{FF2B5EF4-FFF2-40B4-BE49-F238E27FC236}">
                  <a16:creationId xmlns:a16="http://schemas.microsoft.com/office/drawing/2014/main" id="{02740912-7478-CCD8-9D01-8D44BE8C1591}"/>
                </a:ext>
              </a:extLst>
            </p:cNvPr>
            <p:cNvSpPr txBox="1"/>
            <p:nvPr/>
          </p:nvSpPr>
          <p:spPr>
            <a:xfrm>
              <a:off x="6384174" y="1793886"/>
              <a:ext cx="320040" cy="20116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</a:lstStyle>
            <a:p>
              <a:pPr marL="12700" marR="5080" algn="l">
                <a:spcBef>
                  <a:spcPts val="0"/>
                </a:spcBef>
                <a:buNone/>
              </a:pPr>
              <a:r>
                <a:rPr lang="en-US" sz="1100" b="1">
                  <a:solidFill>
                    <a:srgbClr val="8A94A6"/>
                  </a:solidFill>
                  <a:latin typeface="Calibri"/>
                  <a:ea typeface="Calibri"/>
                  <a:cs typeface="Calibri"/>
                </a:rPr>
                <a:t>2</a:t>
              </a:r>
            </a:p>
          </p:txBody>
        </p:sp>
        <p:cxnSp>
          <p:nvCxnSpPr>
            <p:cNvPr id="99" name="Map gate 3">
              <a:extLst>
                <a:ext uri="{FF2B5EF4-FFF2-40B4-BE49-F238E27FC236}">
                  <a16:creationId xmlns:a16="http://schemas.microsoft.com/office/drawing/2014/main" id="{79031F0B-1860-E13C-5A6B-9B207A5A2BDA}"/>
                </a:ext>
              </a:extLst>
            </p:cNvPr>
            <p:cNvCxnSpPr/>
            <p:nvPr/>
          </p:nvCxnSpPr>
          <p:spPr>
            <a:xfrm flipV="1">
              <a:off x="6275173" y="2847628"/>
              <a:ext cx="242940" cy="140277"/>
            </a:xfrm>
            <a:prstGeom prst="line">
              <a:avLst/>
            </a:prstGeom>
            <a:ln w="38100">
              <a:solidFill>
                <a:srgbClr val="8A94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Map label 3">
              <a:extLst>
                <a:ext uri="{FF2B5EF4-FFF2-40B4-BE49-F238E27FC236}">
                  <a16:creationId xmlns:a16="http://schemas.microsoft.com/office/drawing/2014/main" id="{7C474F21-3E0F-A389-9639-5FDAACC95974}"/>
                </a:ext>
              </a:extLst>
            </p:cNvPr>
            <p:cNvSpPr txBox="1"/>
            <p:nvPr/>
          </p:nvSpPr>
          <p:spPr>
            <a:xfrm>
              <a:off x="6488083" y="2625159"/>
              <a:ext cx="320040" cy="20116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</a:lstStyle>
            <a:p>
              <a:pPr marL="12700" marR="5080" algn="l">
                <a:spcBef>
                  <a:spcPts val="0"/>
                </a:spcBef>
                <a:buNone/>
              </a:pPr>
              <a:r>
                <a:rPr lang="en-US" sz="1100" b="1">
                  <a:solidFill>
                    <a:srgbClr val="8A94A6"/>
                  </a:solidFill>
                  <a:latin typeface="Calibri"/>
                  <a:ea typeface="Calibri"/>
                  <a:cs typeface="Calibri"/>
                </a:rPr>
                <a:t>3</a:t>
              </a:r>
            </a:p>
          </p:txBody>
        </p:sp>
        <p:cxnSp>
          <p:nvCxnSpPr>
            <p:cNvPr id="101" name="Map gate 4">
              <a:extLst>
                <a:ext uri="{FF2B5EF4-FFF2-40B4-BE49-F238E27FC236}">
                  <a16:creationId xmlns:a16="http://schemas.microsoft.com/office/drawing/2014/main" id="{C1E833EE-A995-1F86-8618-6A3C18A5CF88}"/>
                </a:ext>
              </a:extLst>
            </p:cNvPr>
            <p:cNvCxnSpPr/>
            <p:nvPr/>
          </p:nvCxnSpPr>
          <p:spPr>
            <a:xfrm>
              <a:off x="6568093" y="3956858"/>
              <a:ext cx="280555" cy="0"/>
            </a:xfrm>
            <a:prstGeom prst="line">
              <a:avLst/>
            </a:prstGeom>
            <a:ln w="38100">
              <a:solidFill>
                <a:srgbClr val="8A94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Map label 4">
              <a:extLst>
                <a:ext uri="{FF2B5EF4-FFF2-40B4-BE49-F238E27FC236}">
                  <a16:creationId xmlns:a16="http://schemas.microsoft.com/office/drawing/2014/main" id="{334DC182-B554-E5F6-9A56-B8C8716967C0}"/>
                </a:ext>
              </a:extLst>
            </p:cNvPr>
            <p:cNvSpPr txBox="1"/>
            <p:nvPr/>
          </p:nvSpPr>
          <p:spPr>
            <a:xfrm>
              <a:off x="6799810" y="3664250"/>
              <a:ext cx="320040" cy="20116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</a:lstStyle>
            <a:p>
              <a:pPr marL="12700" marR="5080" algn="l">
                <a:spcBef>
                  <a:spcPts val="0"/>
                </a:spcBef>
                <a:buNone/>
              </a:pPr>
              <a:r>
                <a:rPr lang="en-US" sz="1100" b="1">
                  <a:solidFill>
                    <a:srgbClr val="8A94A6"/>
                  </a:solidFill>
                  <a:latin typeface="Calibri"/>
                  <a:ea typeface="Calibri"/>
                  <a:cs typeface="Calibri"/>
                </a:rPr>
                <a:t>4</a:t>
              </a:r>
            </a:p>
          </p:txBody>
        </p:sp>
        <p:cxnSp>
          <p:nvCxnSpPr>
            <p:cNvPr id="103" name="Map gate 5">
              <a:extLst>
                <a:ext uri="{FF2B5EF4-FFF2-40B4-BE49-F238E27FC236}">
                  <a16:creationId xmlns:a16="http://schemas.microsoft.com/office/drawing/2014/main" id="{98FB0E6A-8CA9-638F-0BBA-B49D6450DF74}"/>
                </a:ext>
              </a:extLst>
            </p:cNvPr>
            <p:cNvCxnSpPr/>
            <p:nvPr/>
          </p:nvCxnSpPr>
          <p:spPr>
            <a:xfrm flipV="1">
              <a:off x="6164510" y="4442217"/>
              <a:ext cx="48630" cy="276190"/>
            </a:xfrm>
            <a:prstGeom prst="line">
              <a:avLst/>
            </a:prstGeom>
            <a:ln w="38100">
              <a:solidFill>
                <a:srgbClr val="8A94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Map label 5">
              <a:extLst>
                <a:ext uri="{FF2B5EF4-FFF2-40B4-BE49-F238E27FC236}">
                  <a16:creationId xmlns:a16="http://schemas.microsoft.com/office/drawing/2014/main" id="{2CAB6FA5-5B0A-597A-2E49-4E0E5C7775D2}"/>
                </a:ext>
              </a:extLst>
            </p:cNvPr>
            <p:cNvSpPr txBox="1"/>
            <p:nvPr/>
          </p:nvSpPr>
          <p:spPr>
            <a:xfrm>
              <a:off x="6280265" y="4287704"/>
              <a:ext cx="320040" cy="20116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</a:lstStyle>
            <a:p>
              <a:pPr marL="12700" marR="5080" algn="l">
                <a:spcBef>
                  <a:spcPts val="0"/>
                </a:spcBef>
                <a:buNone/>
              </a:pPr>
              <a:r>
                <a:rPr lang="en-US" sz="1100" b="1">
                  <a:solidFill>
                    <a:srgbClr val="8A94A6"/>
                  </a:solidFill>
                  <a:latin typeface="Calibri"/>
                  <a:ea typeface="Calibri"/>
                  <a:cs typeface="Calibri"/>
                </a:rPr>
                <a:t>5</a:t>
              </a:r>
            </a:p>
          </p:txBody>
        </p:sp>
        <p:cxnSp>
          <p:nvCxnSpPr>
            <p:cNvPr id="105" name="Map gate 6">
              <a:extLst>
                <a:ext uri="{FF2B5EF4-FFF2-40B4-BE49-F238E27FC236}">
                  <a16:creationId xmlns:a16="http://schemas.microsoft.com/office/drawing/2014/main" id="{3323CD53-CBF2-601A-9A0F-4D9388A2BEEB}"/>
                </a:ext>
              </a:extLst>
            </p:cNvPr>
            <p:cNvCxnSpPr/>
            <p:nvPr/>
          </p:nvCxnSpPr>
          <p:spPr>
            <a:xfrm flipV="1">
              <a:off x="5669280" y="3608762"/>
              <a:ext cx="0" cy="280555"/>
            </a:xfrm>
            <a:prstGeom prst="line">
              <a:avLst/>
            </a:prstGeom>
            <a:ln w="38100">
              <a:solidFill>
                <a:srgbClr val="8A94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Map label 6">
              <a:extLst>
                <a:ext uri="{FF2B5EF4-FFF2-40B4-BE49-F238E27FC236}">
                  <a16:creationId xmlns:a16="http://schemas.microsoft.com/office/drawing/2014/main" id="{5FC127D9-6946-DDC3-D805-744199957C19}"/>
                </a:ext>
              </a:extLst>
            </p:cNvPr>
            <p:cNvSpPr txBox="1"/>
            <p:nvPr/>
          </p:nvSpPr>
          <p:spPr>
            <a:xfrm>
              <a:off x="5760720" y="3456432"/>
              <a:ext cx="320040" cy="20116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</a:lstStyle>
            <a:p>
              <a:pPr marL="12700" marR="5080" algn="l">
                <a:spcBef>
                  <a:spcPts val="0"/>
                </a:spcBef>
                <a:buNone/>
              </a:pPr>
              <a:r>
                <a:rPr lang="en-US" sz="1100" b="1">
                  <a:solidFill>
                    <a:srgbClr val="8A94A6"/>
                  </a:solidFill>
                  <a:latin typeface="Calibri"/>
                  <a:ea typeface="Calibri"/>
                  <a:cs typeface="Calibri"/>
                </a:rPr>
                <a:t>6</a:t>
              </a:r>
            </a:p>
          </p:txBody>
        </p:sp>
        <p:cxnSp>
          <p:nvCxnSpPr>
            <p:cNvPr id="107" name="Map gate 7">
              <a:extLst>
                <a:ext uri="{FF2B5EF4-FFF2-40B4-BE49-F238E27FC236}">
                  <a16:creationId xmlns:a16="http://schemas.microsoft.com/office/drawing/2014/main" id="{DC3572A3-813D-9C00-0115-94BA447E8267}"/>
                </a:ext>
              </a:extLst>
            </p:cNvPr>
            <p:cNvCxnSpPr/>
            <p:nvPr/>
          </p:nvCxnSpPr>
          <p:spPr>
            <a:xfrm>
              <a:off x="5011639" y="4555998"/>
              <a:ext cx="276190" cy="48629"/>
            </a:xfrm>
            <a:prstGeom prst="line">
              <a:avLst/>
            </a:prstGeom>
            <a:ln w="38100">
              <a:solidFill>
                <a:srgbClr val="8A94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Map label 7">
              <a:extLst>
                <a:ext uri="{FF2B5EF4-FFF2-40B4-BE49-F238E27FC236}">
                  <a16:creationId xmlns:a16="http://schemas.microsoft.com/office/drawing/2014/main" id="{0617E98B-84B4-A157-2C93-2DFC22B45984}"/>
                </a:ext>
              </a:extLst>
            </p:cNvPr>
            <p:cNvSpPr txBox="1"/>
            <p:nvPr/>
          </p:nvSpPr>
          <p:spPr>
            <a:xfrm>
              <a:off x="5241174" y="4287704"/>
              <a:ext cx="320040" cy="20116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</a:lstStyle>
            <a:p>
              <a:pPr marL="12700" marR="5080" algn="l">
                <a:spcBef>
                  <a:spcPts val="0"/>
                </a:spcBef>
                <a:buNone/>
              </a:pPr>
              <a:r>
                <a:rPr lang="en-US" sz="1100" b="1">
                  <a:solidFill>
                    <a:srgbClr val="8A94A6"/>
                  </a:solidFill>
                  <a:latin typeface="Calibri"/>
                  <a:ea typeface="Calibri"/>
                  <a:cs typeface="Calibri"/>
                </a:rPr>
                <a:t>7</a:t>
              </a:r>
            </a:p>
          </p:txBody>
        </p:sp>
        <p:cxnSp>
          <p:nvCxnSpPr>
            <p:cNvPr id="109" name="Map gate 8">
              <a:extLst>
                <a:ext uri="{FF2B5EF4-FFF2-40B4-BE49-F238E27FC236}">
                  <a16:creationId xmlns:a16="http://schemas.microsoft.com/office/drawing/2014/main" id="{CB9B2D40-604B-6FEC-EDEA-622786402E99}"/>
                </a:ext>
              </a:extLst>
            </p:cNvPr>
            <p:cNvCxnSpPr/>
            <p:nvPr/>
          </p:nvCxnSpPr>
          <p:spPr>
            <a:xfrm flipV="1">
              <a:off x="4907730" y="3724725"/>
              <a:ext cx="276190" cy="48629"/>
            </a:xfrm>
            <a:prstGeom prst="line">
              <a:avLst/>
            </a:prstGeom>
            <a:ln w="38100">
              <a:solidFill>
                <a:srgbClr val="8A94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Map label 8">
              <a:extLst>
                <a:ext uri="{FF2B5EF4-FFF2-40B4-BE49-F238E27FC236}">
                  <a16:creationId xmlns:a16="http://schemas.microsoft.com/office/drawing/2014/main" id="{F54A12DB-66C3-0EA8-2B31-BAAD9CF85405}"/>
                </a:ext>
              </a:extLst>
            </p:cNvPr>
            <p:cNvSpPr txBox="1"/>
            <p:nvPr/>
          </p:nvSpPr>
          <p:spPr>
            <a:xfrm>
              <a:off x="5137265" y="3456432"/>
              <a:ext cx="320040" cy="20116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</a:lstStyle>
            <a:p>
              <a:pPr marL="12700" marR="5080" algn="l">
                <a:spcBef>
                  <a:spcPts val="0"/>
                </a:spcBef>
                <a:buNone/>
              </a:pPr>
              <a:r>
                <a:rPr lang="en-US" sz="1100" b="1">
                  <a:solidFill>
                    <a:srgbClr val="8A94A6"/>
                  </a:solidFill>
                  <a:latin typeface="Calibri"/>
                  <a:ea typeface="Calibri"/>
                  <a:cs typeface="Calibri"/>
                </a:rPr>
                <a:t>8</a:t>
              </a:r>
            </a:p>
          </p:txBody>
        </p:sp>
        <p:cxnSp>
          <p:nvCxnSpPr>
            <p:cNvPr id="111" name="Map gate 9">
              <a:extLst>
                <a:ext uri="{FF2B5EF4-FFF2-40B4-BE49-F238E27FC236}">
                  <a16:creationId xmlns:a16="http://schemas.microsoft.com/office/drawing/2014/main" id="{06F39E22-920A-CF5F-E356-D4E4DC44AA8D}"/>
                </a:ext>
              </a:extLst>
            </p:cNvPr>
            <p:cNvCxnSpPr/>
            <p:nvPr/>
          </p:nvCxnSpPr>
          <p:spPr>
            <a:xfrm>
              <a:off x="4699912" y="2893452"/>
              <a:ext cx="276190" cy="48630"/>
            </a:xfrm>
            <a:prstGeom prst="line">
              <a:avLst/>
            </a:prstGeom>
            <a:ln w="50800">
              <a:solidFill>
                <a:srgbClr val="E84A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Map label 9">
              <a:extLst>
                <a:ext uri="{FF2B5EF4-FFF2-40B4-BE49-F238E27FC236}">
                  <a16:creationId xmlns:a16="http://schemas.microsoft.com/office/drawing/2014/main" id="{9A924C5A-F4C9-31A7-AEA8-C7EDDD9F3514}"/>
                </a:ext>
              </a:extLst>
            </p:cNvPr>
            <p:cNvSpPr txBox="1"/>
            <p:nvPr/>
          </p:nvSpPr>
          <p:spPr>
            <a:xfrm>
              <a:off x="4929447" y="2625159"/>
              <a:ext cx="320040" cy="20116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</a:lstStyle>
            <a:p>
              <a:pPr marL="12700" marR="5080" algn="l">
                <a:spcBef>
                  <a:spcPts val="0"/>
                </a:spcBef>
                <a:buNone/>
              </a:pPr>
              <a:r>
                <a:rPr lang="en-US" sz="1100" b="1">
                  <a:solidFill>
                    <a:srgbClr val="12294A"/>
                  </a:solidFill>
                  <a:latin typeface="Calibri"/>
                  <a:ea typeface="Calibri"/>
                  <a:cs typeface="Calibri"/>
                </a:rPr>
                <a:t>9</a:t>
              </a:r>
            </a:p>
          </p:txBody>
        </p:sp>
        <p:cxnSp>
          <p:nvCxnSpPr>
            <p:cNvPr id="113" name="Map gate 10">
              <a:extLst>
                <a:ext uri="{FF2B5EF4-FFF2-40B4-BE49-F238E27FC236}">
                  <a16:creationId xmlns:a16="http://schemas.microsoft.com/office/drawing/2014/main" id="{9C9E4EC5-5EEE-E4EA-03BD-398DBFF18D7C}"/>
                </a:ext>
              </a:extLst>
            </p:cNvPr>
            <p:cNvCxnSpPr/>
            <p:nvPr/>
          </p:nvCxnSpPr>
          <p:spPr>
            <a:xfrm>
              <a:off x="4946592" y="1987261"/>
              <a:ext cx="198466" cy="198466"/>
            </a:xfrm>
            <a:prstGeom prst="line">
              <a:avLst/>
            </a:prstGeom>
            <a:ln w="50800">
              <a:solidFill>
                <a:srgbClr val="E84A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Map label 10">
              <a:extLst>
                <a:ext uri="{FF2B5EF4-FFF2-40B4-BE49-F238E27FC236}">
                  <a16:creationId xmlns:a16="http://schemas.microsoft.com/office/drawing/2014/main" id="{10999294-E91D-E8E3-573E-6ADFF57116D3}"/>
                </a:ext>
              </a:extLst>
            </p:cNvPr>
            <p:cNvSpPr txBox="1"/>
            <p:nvPr/>
          </p:nvSpPr>
          <p:spPr>
            <a:xfrm>
              <a:off x="5137265" y="1793886"/>
              <a:ext cx="320040" cy="20116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</a:lstStyle>
            <a:p>
              <a:pPr marL="12700" marR="5080" algn="l">
                <a:spcBef>
                  <a:spcPts val="0"/>
                </a:spcBef>
                <a:buNone/>
              </a:pPr>
              <a:r>
                <a:rPr lang="en-US" sz="1100" b="1">
                  <a:solidFill>
                    <a:srgbClr val="12294A"/>
                  </a:solidFill>
                  <a:latin typeface="Calibri"/>
                  <a:ea typeface="Calibri"/>
                  <a:cs typeface="Calibri"/>
                </a:rPr>
                <a:t>10</a:t>
              </a:r>
            </a:p>
          </p:txBody>
        </p:sp>
        <p:cxnSp>
          <p:nvCxnSpPr>
            <p:cNvPr id="115" name="Camera field of view">
              <a:extLst>
                <a:ext uri="{FF2B5EF4-FFF2-40B4-BE49-F238E27FC236}">
                  <a16:creationId xmlns:a16="http://schemas.microsoft.com/office/drawing/2014/main" id="{7CF0AB50-7476-A652-F2DF-655919DC524A}"/>
                </a:ext>
              </a:extLst>
            </p:cNvPr>
            <p:cNvCxnSpPr/>
            <p:nvPr/>
          </p:nvCxnSpPr>
          <p:spPr>
            <a:xfrm flipV="1">
              <a:off x="5034811" y="1463040"/>
              <a:ext cx="914810" cy="2240903"/>
            </a:xfrm>
            <a:prstGeom prst="line">
              <a:avLst/>
            </a:prstGeom>
            <a:ln w="12700">
              <a:solidFill>
                <a:srgbClr val="8A94A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amera field of view">
              <a:extLst>
                <a:ext uri="{FF2B5EF4-FFF2-40B4-BE49-F238E27FC236}">
                  <a16:creationId xmlns:a16="http://schemas.microsoft.com/office/drawing/2014/main" id="{191F0BE0-EBFB-F70B-1317-7B2B51E55EF6}"/>
                </a:ext>
              </a:extLst>
            </p:cNvPr>
            <p:cNvCxnSpPr/>
            <p:nvPr/>
          </p:nvCxnSpPr>
          <p:spPr>
            <a:xfrm flipH="1" flipV="1">
              <a:off x="4526280" y="3317853"/>
              <a:ext cx="508531" cy="386090"/>
            </a:xfrm>
            <a:prstGeom prst="line">
              <a:avLst/>
            </a:prstGeom>
            <a:ln w="12700">
              <a:solidFill>
                <a:srgbClr val="8A94A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Drone heading">
              <a:extLst>
                <a:ext uri="{FF2B5EF4-FFF2-40B4-BE49-F238E27FC236}">
                  <a16:creationId xmlns:a16="http://schemas.microsoft.com/office/drawing/2014/main" id="{D71AEC56-E479-0980-534F-7EA1D49E7527}"/>
                </a:ext>
              </a:extLst>
            </p:cNvPr>
            <p:cNvCxnSpPr/>
            <p:nvPr/>
          </p:nvCxnSpPr>
          <p:spPr>
            <a:xfrm flipH="1" flipV="1">
              <a:off x="4974515" y="3483438"/>
              <a:ext cx="60296" cy="220505"/>
            </a:xfrm>
            <a:prstGeom prst="line">
              <a:avLst/>
            </a:prstGeom>
            <a:ln w="25400">
              <a:solidFill>
                <a:srgbClr val="12294A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Drone">
              <a:extLst>
                <a:ext uri="{FF2B5EF4-FFF2-40B4-BE49-F238E27FC236}">
                  <a16:creationId xmlns:a16="http://schemas.microsoft.com/office/drawing/2014/main" id="{C9BCE8D0-2EFA-F60F-9E62-D5B91D705997}"/>
                </a:ext>
              </a:extLst>
            </p:cNvPr>
            <p:cNvSpPr/>
            <p:nvPr/>
          </p:nvSpPr>
          <p:spPr>
            <a:xfrm>
              <a:off x="4952515" y="3621647"/>
              <a:ext cx="164592" cy="164592"/>
            </a:xfrm>
            <a:prstGeom prst="ellipse">
              <a:avLst/>
            </a:prstGeom>
            <a:solidFill>
              <a:srgbClr val="12294A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19" name="Drone label">
              <a:extLst>
                <a:ext uri="{FF2B5EF4-FFF2-40B4-BE49-F238E27FC236}">
                  <a16:creationId xmlns:a16="http://schemas.microsoft.com/office/drawing/2014/main" id="{83CEF50A-A77C-2EFB-2434-C61D7D865B4A}"/>
                </a:ext>
              </a:extLst>
            </p:cNvPr>
            <p:cNvSpPr txBox="1"/>
            <p:nvPr/>
          </p:nvSpPr>
          <p:spPr>
            <a:xfrm>
              <a:off x="4806211" y="3795383"/>
              <a:ext cx="502920" cy="20116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</a:lstStyle>
            <a:p>
              <a:pPr marL="12700" marR="5080" algn="l">
                <a:spcBef>
                  <a:spcPts val="0"/>
                </a:spcBef>
                <a:buNone/>
              </a:pPr>
              <a:r>
                <a:rPr lang="en-US" sz="1000">
                  <a:solidFill>
                    <a:srgbClr val="12294A"/>
                  </a:solidFill>
                  <a:latin typeface="Calibri"/>
                  <a:ea typeface="Calibri"/>
                  <a:cs typeface="Calibri"/>
                </a:rPr>
                <a:t>drone</a:t>
              </a:r>
            </a:p>
          </p:txBody>
        </p:sp>
        <p:pic>
          <p:nvPicPr>
            <p:cNvPr id="120" name="Camera frame (plain)">
              <a:extLst>
                <a:ext uri="{FF2B5EF4-FFF2-40B4-BE49-F238E27FC236}">
                  <a16:creationId xmlns:a16="http://schemas.microsoft.com/office/drawing/2014/main" id="{F9090B72-6A07-2146-C6F9-29326EECB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57258" y="1463040"/>
              <a:ext cx="4564577" cy="3429000"/>
            </a:xfrm>
            <a:prstGeom prst="rect">
              <a:avLst/>
            </a:prstGeom>
          </p:spPr>
        </p:pic>
        <p:sp>
          <p:nvSpPr>
            <p:cNvPr id="121" name="Detected blob 1">
              <a:extLst>
                <a:ext uri="{FF2B5EF4-FFF2-40B4-BE49-F238E27FC236}">
                  <a16:creationId xmlns:a16="http://schemas.microsoft.com/office/drawing/2014/main" id="{BA13AD65-DDC2-D133-B24A-9C4F474E0966}"/>
                </a:ext>
              </a:extLst>
            </p:cNvPr>
            <p:cNvSpPr/>
            <p:nvPr/>
          </p:nvSpPr>
          <p:spPr>
            <a:xfrm>
              <a:off x="11248678" y="2954877"/>
              <a:ext cx="183697" cy="495424"/>
            </a:xfrm>
            <a:custGeom>
              <a:avLst/>
              <a:gdLst/>
              <a:ahLst/>
              <a:cxnLst/>
              <a:rect l="l" t="t" r="r" b="b"/>
              <a:pathLst>
                <a:path w="183697" h="495424">
                  <a:moveTo>
                    <a:pt x="150297" y="0"/>
                  </a:moveTo>
                  <a:lnTo>
                    <a:pt x="22266" y="22266"/>
                  </a:lnTo>
                  <a:lnTo>
                    <a:pt x="0" y="44533"/>
                  </a:lnTo>
                  <a:lnTo>
                    <a:pt x="11133" y="211529"/>
                  </a:lnTo>
                  <a:lnTo>
                    <a:pt x="44533" y="200396"/>
                  </a:lnTo>
                  <a:lnTo>
                    <a:pt x="61232" y="128031"/>
                  </a:lnTo>
                  <a:lnTo>
                    <a:pt x="111331" y="122464"/>
                  </a:lnTo>
                  <a:lnTo>
                    <a:pt x="144731" y="345127"/>
                  </a:lnTo>
                  <a:lnTo>
                    <a:pt x="111331" y="378526"/>
                  </a:lnTo>
                  <a:lnTo>
                    <a:pt x="22266" y="361826"/>
                  </a:lnTo>
                  <a:lnTo>
                    <a:pt x="0" y="445325"/>
                  </a:lnTo>
                  <a:lnTo>
                    <a:pt x="11133" y="462025"/>
                  </a:lnTo>
                  <a:lnTo>
                    <a:pt x="133598" y="495424"/>
                  </a:lnTo>
                  <a:lnTo>
                    <a:pt x="172563" y="478724"/>
                  </a:lnTo>
                  <a:lnTo>
                    <a:pt x="161430" y="322861"/>
                  </a:lnTo>
                  <a:lnTo>
                    <a:pt x="183697" y="289461"/>
                  </a:lnTo>
                  <a:lnTo>
                    <a:pt x="183697" y="27833"/>
                  </a:lnTo>
                  <a:close/>
                </a:path>
              </a:pathLst>
            </a:custGeom>
            <a:noFill/>
            <a:ln w="22225">
              <a:solidFill>
                <a:srgbClr val="1E9E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2" name="Detected blob 2">
              <a:extLst>
                <a:ext uri="{FF2B5EF4-FFF2-40B4-BE49-F238E27FC236}">
                  <a16:creationId xmlns:a16="http://schemas.microsoft.com/office/drawing/2014/main" id="{E77AA358-5461-A6AE-7803-6900E75ED311}"/>
                </a:ext>
              </a:extLst>
            </p:cNvPr>
            <p:cNvSpPr/>
            <p:nvPr/>
          </p:nvSpPr>
          <p:spPr>
            <a:xfrm>
              <a:off x="9049888" y="2687682"/>
              <a:ext cx="979714" cy="1113312"/>
            </a:xfrm>
            <a:custGeom>
              <a:avLst/>
              <a:gdLst/>
              <a:ahLst/>
              <a:cxnLst/>
              <a:rect l="l" t="t" r="r" b="b"/>
              <a:pathLst>
                <a:path w="979714" h="1113312">
                  <a:moveTo>
                    <a:pt x="957448" y="11133"/>
                  </a:moveTo>
                  <a:lnTo>
                    <a:pt x="912915" y="0"/>
                  </a:lnTo>
                  <a:lnTo>
                    <a:pt x="11133" y="55666"/>
                  </a:lnTo>
                  <a:lnTo>
                    <a:pt x="0" y="1007547"/>
                  </a:lnTo>
                  <a:lnTo>
                    <a:pt x="868383" y="1113312"/>
                  </a:lnTo>
                  <a:lnTo>
                    <a:pt x="946314" y="1102179"/>
                  </a:lnTo>
                  <a:lnTo>
                    <a:pt x="968581" y="623455"/>
                  </a:lnTo>
                  <a:lnTo>
                    <a:pt x="957448" y="200396"/>
                  </a:lnTo>
                  <a:lnTo>
                    <a:pt x="979714" y="38966"/>
                  </a:lnTo>
                  <a:close/>
                </a:path>
              </a:pathLst>
            </a:custGeom>
            <a:noFill/>
            <a:ln w="22225">
              <a:solidFill>
                <a:srgbClr val="1E9E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3" name="Detected blob 3">
              <a:extLst>
                <a:ext uri="{FF2B5EF4-FFF2-40B4-BE49-F238E27FC236}">
                  <a16:creationId xmlns:a16="http://schemas.microsoft.com/office/drawing/2014/main" id="{EA55755F-0852-2BFF-112D-BB1981952779}"/>
                </a:ext>
              </a:extLst>
            </p:cNvPr>
            <p:cNvSpPr/>
            <p:nvPr/>
          </p:nvSpPr>
          <p:spPr>
            <a:xfrm>
              <a:off x="10085267" y="2331423"/>
              <a:ext cx="411926" cy="1157844"/>
            </a:xfrm>
            <a:custGeom>
              <a:avLst/>
              <a:gdLst/>
              <a:ahLst/>
              <a:cxnLst/>
              <a:rect l="l" t="t" r="r" b="b"/>
              <a:pathLst>
                <a:path w="411926" h="1157844">
                  <a:moveTo>
                    <a:pt x="395226" y="0"/>
                  </a:moveTo>
                  <a:lnTo>
                    <a:pt x="33400" y="100198"/>
                  </a:lnTo>
                  <a:lnTo>
                    <a:pt x="0" y="133597"/>
                  </a:lnTo>
                  <a:lnTo>
                    <a:pt x="0" y="551089"/>
                  </a:lnTo>
                  <a:lnTo>
                    <a:pt x="44533" y="590055"/>
                  </a:lnTo>
                  <a:lnTo>
                    <a:pt x="0" y="606754"/>
                  </a:lnTo>
                  <a:lnTo>
                    <a:pt x="0" y="701386"/>
                  </a:lnTo>
                  <a:lnTo>
                    <a:pt x="22267" y="768185"/>
                  </a:lnTo>
                  <a:lnTo>
                    <a:pt x="11134" y="818284"/>
                  </a:lnTo>
                  <a:lnTo>
                    <a:pt x="33400" y="873949"/>
                  </a:lnTo>
                  <a:lnTo>
                    <a:pt x="22267" y="1001980"/>
                  </a:lnTo>
                  <a:lnTo>
                    <a:pt x="0" y="1018680"/>
                  </a:lnTo>
                  <a:lnTo>
                    <a:pt x="11134" y="1113311"/>
                  </a:lnTo>
                  <a:lnTo>
                    <a:pt x="395226" y="1157844"/>
                  </a:lnTo>
                  <a:lnTo>
                    <a:pt x="395226" y="1001980"/>
                  </a:lnTo>
                  <a:lnTo>
                    <a:pt x="411926" y="996414"/>
                  </a:lnTo>
                  <a:lnTo>
                    <a:pt x="411926" y="974147"/>
                  </a:lnTo>
                  <a:lnTo>
                    <a:pt x="395226" y="968581"/>
                  </a:lnTo>
                  <a:lnTo>
                    <a:pt x="395226" y="768185"/>
                  </a:lnTo>
                  <a:lnTo>
                    <a:pt x="411926" y="762618"/>
                  </a:lnTo>
                  <a:lnTo>
                    <a:pt x="411926" y="706953"/>
                  </a:lnTo>
                  <a:lnTo>
                    <a:pt x="395226" y="701386"/>
                  </a:lnTo>
                  <a:lnTo>
                    <a:pt x="411926" y="690253"/>
                  </a:lnTo>
                  <a:lnTo>
                    <a:pt x="395226" y="684686"/>
                  </a:lnTo>
                  <a:lnTo>
                    <a:pt x="411926" y="673553"/>
                  </a:lnTo>
                  <a:lnTo>
                    <a:pt x="395226" y="662420"/>
                  </a:lnTo>
                  <a:lnTo>
                    <a:pt x="395226" y="623454"/>
                  </a:lnTo>
                  <a:lnTo>
                    <a:pt x="411926" y="617888"/>
                  </a:lnTo>
                  <a:lnTo>
                    <a:pt x="395226" y="612321"/>
                  </a:lnTo>
                  <a:lnTo>
                    <a:pt x="395226" y="573355"/>
                  </a:lnTo>
                  <a:lnTo>
                    <a:pt x="411926" y="567789"/>
                  </a:lnTo>
                  <a:lnTo>
                    <a:pt x="411926" y="11133"/>
                  </a:lnTo>
                  <a:close/>
                </a:path>
              </a:pathLst>
            </a:custGeom>
            <a:noFill/>
            <a:ln w="22225">
              <a:solidFill>
                <a:srgbClr val="1E9E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4" name="Predicted gate 1">
              <a:extLst>
                <a:ext uri="{FF2B5EF4-FFF2-40B4-BE49-F238E27FC236}">
                  <a16:creationId xmlns:a16="http://schemas.microsoft.com/office/drawing/2014/main" id="{28F2A09D-89C8-0030-9FE8-D5A44BC60166}"/>
                </a:ext>
              </a:extLst>
            </p:cNvPr>
            <p:cNvSpPr/>
            <p:nvPr/>
          </p:nvSpPr>
          <p:spPr>
            <a:xfrm>
              <a:off x="11343644" y="2972467"/>
              <a:ext cx="187982" cy="502883"/>
            </a:xfrm>
            <a:custGeom>
              <a:avLst/>
              <a:gdLst/>
              <a:ahLst/>
              <a:cxnLst/>
              <a:rect l="l" t="t" r="r" b="b"/>
              <a:pathLst>
                <a:path w="187982" h="502883">
                  <a:moveTo>
                    <a:pt x="187982" y="0"/>
                  </a:moveTo>
                  <a:lnTo>
                    <a:pt x="8516" y="24271"/>
                  </a:lnTo>
                  <a:lnTo>
                    <a:pt x="0" y="456625"/>
                  </a:lnTo>
                  <a:lnTo>
                    <a:pt x="177684" y="502883"/>
                  </a:lnTo>
                  <a:close/>
                </a:path>
              </a:pathLst>
            </a:custGeom>
            <a:noFill/>
            <a:ln w="19050">
              <a:solidFill>
                <a:srgbClr val="E84A2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5" name="3σ circle gate 1">
              <a:extLst>
                <a:ext uri="{FF2B5EF4-FFF2-40B4-BE49-F238E27FC236}">
                  <a16:creationId xmlns:a16="http://schemas.microsoft.com/office/drawing/2014/main" id="{A0F52ABE-189E-86BD-FD74-93A2136D1508}"/>
                </a:ext>
              </a:extLst>
            </p:cNvPr>
            <p:cNvSpPr/>
            <p:nvPr/>
          </p:nvSpPr>
          <p:spPr>
            <a:xfrm>
              <a:off x="11124822" y="2906058"/>
              <a:ext cx="624679" cy="624679"/>
            </a:xfrm>
            <a:prstGeom prst="ellipse">
              <a:avLst/>
            </a:prstGeom>
            <a:noFill/>
            <a:ln w="12700">
              <a:solidFill>
                <a:srgbClr val="E84A27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6" name="Predicted gate 9">
              <a:extLst>
                <a:ext uri="{FF2B5EF4-FFF2-40B4-BE49-F238E27FC236}">
                  <a16:creationId xmlns:a16="http://schemas.microsoft.com/office/drawing/2014/main" id="{BDAD5EB1-3351-7C08-E97E-CA65EC87E3E1}"/>
                </a:ext>
              </a:extLst>
            </p:cNvPr>
            <p:cNvSpPr/>
            <p:nvPr/>
          </p:nvSpPr>
          <p:spPr>
            <a:xfrm>
              <a:off x="9240821" y="2731881"/>
              <a:ext cx="986728" cy="1110862"/>
            </a:xfrm>
            <a:custGeom>
              <a:avLst/>
              <a:gdLst/>
              <a:ahLst/>
              <a:cxnLst/>
              <a:rect l="l" t="t" r="r" b="b"/>
              <a:pathLst>
                <a:path w="986728" h="1110862">
                  <a:moveTo>
                    <a:pt x="9518" y="46425"/>
                  </a:moveTo>
                  <a:lnTo>
                    <a:pt x="986728" y="0"/>
                  </a:lnTo>
                  <a:lnTo>
                    <a:pt x="970696" y="1110862"/>
                  </a:lnTo>
                  <a:lnTo>
                    <a:pt x="0" y="1004485"/>
                  </a:lnTo>
                  <a:close/>
                </a:path>
              </a:pathLst>
            </a:custGeom>
            <a:noFill/>
            <a:ln w="19050">
              <a:solidFill>
                <a:srgbClr val="E84A2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7" name="3σ circle gate 9">
              <a:extLst>
                <a:ext uri="{FF2B5EF4-FFF2-40B4-BE49-F238E27FC236}">
                  <a16:creationId xmlns:a16="http://schemas.microsoft.com/office/drawing/2014/main" id="{133A1C51-051E-238F-51D4-29ACB7A4C266}"/>
                </a:ext>
              </a:extLst>
            </p:cNvPr>
            <p:cNvSpPr/>
            <p:nvPr/>
          </p:nvSpPr>
          <p:spPr>
            <a:xfrm>
              <a:off x="9306673" y="2846441"/>
              <a:ext cx="851794" cy="851794"/>
            </a:xfrm>
            <a:prstGeom prst="ellipse">
              <a:avLst/>
            </a:prstGeom>
            <a:noFill/>
            <a:ln w="12700">
              <a:solidFill>
                <a:srgbClr val="E84A27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8" name="Predicted gate 10">
              <a:extLst>
                <a:ext uri="{FF2B5EF4-FFF2-40B4-BE49-F238E27FC236}">
                  <a16:creationId xmlns:a16="http://schemas.microsoft.com/office/drawing/2014/main" id="{A92C7E02-D992-B294-4B74-E3D53C44C9E3}"/>
                </a:ext>
              </a:extLst>
            </p:cNvPr>
            <p:cNvSpPr/>
            <p:nvPr/>
          </p:nvSpPr>
          <p:spPr>
            <a:xfrm>
              <a:off x="10180456" y="2349236"/>
              <a:ext cx="432020" cy="1165136"/>
            </a:xfrm>
            <a:custGeom>
              <a:avLst/>
              <a:gdLst/>
              <a:ahLst/>
              <a:cxnLst/>
              <a:rect l="l" t="t" r="r" b="b"/>
              <a:pathLst>
                <a:path w="432020" h="1165136">
                  <a:moveTo>
                    <a:pt x="14250" y="111943"/>
                  </a:moveTo>
                  <a:lnTo>
                    <a:pt x="432020" y="0"/>
                  </a:lnTo>
                  <a:lnTo>
                    <a:pt x="413150" y="1165136"/>
                  </a:lnTo>
                  <a:lnTo>
                    <a:pt x="0" y="1107745"/>
                  </a:lnTo>
                  <a:close/>
                </a:path>
              </a:pathLst>
            </a:custGeom>
            <a:noFill/>
            <a:ln w="19050">
              <a:solidFill>
                <a:srgbClr val="E84A2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9" name="3σ circle gate 10">
              <a:extLst>
                <a:ext uri="{FF2B5EF4-FFF2-40B4-BE49-F238E27FC236}">
                  <a16:creationId xmlns:a16="http://schemas.microsoft.com/office/drawing/2014/main" id="{C915D258-6518-14E6-91F6-D6F3FD4B7FD6}"/>
                </a:ext>
              </a:extLst>
            </p:cNvPr>
            <p:cNvSpPr/>
            <p:nvPr/>
          </p:nvSpPr>
          <p:spPr>
            <a:xfrm>
              <a:off x="10082428" y="2632518"/>
              <a:ext cx="625792" cy="625792"/>
            </a:xfrm>
            <a:prstGeom prst="ellipse">
              <a:avLst/>
            </a:prstGeom>
            <a:noFill/>
            <a:ln w="12700">
              <a:solidFill>
                <a:srgbClr val="E84A27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cxnSp>
          <p:nvCxnSpPr>
            <p:cNvPr id="130" name="Match #1">
              <a:extLst>
                <a:ext uri="{FF2B5EF4-FFF2-40B4-BE49-F238E27FC236}">
                  <a16:creationId xmlns:a16="http://schemas.microsoft.com/office/drawing/2014/main" id="{E6310911-2C10-0E7C-E2B4-F91F3E20D9A4}"/>
                </a:ext>
              </a:extLst>
            </p:cNvPr>
            <p:cNvCxnSpPr/>
            <p:nvPr/>
          </p:nvCxnSpPr>
          <p:spPr>
            <a:xfrm flipV="1">
              <a:off x="11339023" y="3218398"/>
              <a:ext cx="98139" cy="4398"/>
            </a:xfrm>
            <a:prstGeom prst="line">
              <a:avLst/>
            </a:prstGeom>
            <a:ln w="22225">
              <a:solidFill>
                <a:srgbClr val="12294A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Cost #1">
              <a:extLst>
                <a:ext uri="{FF2B5EF4-FFF2-40B4-BE49-F238E27FC236}">
                  <a16:creationId xmlns:a16="http://schemas.microsoft.com/office/drawing/2014/main" id="{C1D67E09-A330-0D12-0B1A-F0097CC849FA}"/>
                </a:ext>
              </a:extLst>
            </p:cNvPr>
            <p:cNvSpPr txBox="1"/>
            <p:nvPr/>
          </p:nvSpPr>
          <p:spPr>
            <a:xfrm>
              <a:off x="10470343" y="3277660"/>
              <a:ext cx="822960" cy="201168"/>
            </a:xfrm>
            <a:prstGeom prst="rect">
              <a:avLst/>
            </a:prstGeom>
            <a:solidFill>
              <a:srgbClr val="12294A"/>
            </a:solidFill>
          </p:spPr>
          <p:txBody>
            <a:bodyPr wrap="square" lIns="36000" tIns="0" rIns="36000" bIns="0">
              <a:spAutoFit/>
            </a:bodyPr>
            <a:lstStyle>
              <a:defPPr>
                <a:defRPr kern="0"/>
              </a:defPPr>
            </a:lstStyle>
            <a:p>
              <a:pPr marL="12700" marR="5080" algn="ctr">
                <a:spcBef>
                  <a:spcPts val="0"/>
                </a:spcBef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#1  cost 0.9</a:t>
              </a:r>
            </a:p>
          </p:txBody>
        </p:sp>
        <p:sp>
          <p:nvSpPr>
            <p:cNvPr id="132" name="Gate tag 1">
              <a:extLst>
                <a:ext uri="{FF2B5EF4-FFF2-40B4-BE49-F238E27FC236}">
                  <a16:creationId xmlns:a16="http://schemas.microsoft.com/office/drawing/2014/main" id="{D3499F9A-53B2-72E3-CEBE-3DBDF8FF577F}"/>
                </a:ext>
              </a:extLst>
            </p:cNvPr>
            <p:cNvSpPr txBox="1"/>
            <p:nvPr/>
          </p:nvSpPr>
          <p:spPr>
            <a:xfrm>
              <a:off x="11162842" y="2703313"/>
              <a:ext cx="548640" cy="201168"/>
            </a:xfrm>
            <a:prstGeom prst="rect">
              <a:avLst/>
            </a:prstGeom>
            <a:solidFill>
              <a:srgbClr val="E84A27"/>
            </a:solidFill>
          </p:spPr>
          <p:txBody>
            <a:bodyPr wrap="square" lIns="36000" tIns="0" rIns="36000" bIns="0">
              <a:spAutoFit/>
            </a:bodyPr>
            <a:lstStyle>
              <a:defPPr>
                <a:defRPr kern="0"/>
              </a:defPPr>
            </a:lstStyle>
            <a:p>
              <a:pPr marL="12700" marR="5080" algn="ctr">
                <a:spcBef>
                  <a:spcPts val="0"/>
                </a:spcBef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gate 1</a:t>
              </a:r>
            </a:p>
          </p:txBody>
        </p:sp>
        <p:cxnSp>
          <p:nvCxnSpPr>
            <p:cNvPr id="133" name="Match #2">
              <a:extLst>
                <a:ext uri="{FF2B5EF4-FFF2-40B4-BE49-F238E27FC236}">
                  <a16:creationId xmlns:a16="http://schemas.microsoft.com/office/drawing/2014/main" id="{4F2647C6-A3E8-C770-33AA-34A135064BAE}"/>
                </a:ext>
              </a:extLst>
            </p:cNvPr>
            <p:cNvCxnSpPr/>
            <p:nvPr/>
          </p:nvCxnSpPr>
          <p:spPr>
            <a:xfrm>
              <a:off x="9675903" y="3131671"/>
              <a:ext cx="56667" cy="140667"/>
            </a:xfrm>
            <a:prstGeom prst="line">
              <a:avLst/>
            </a:prstGeom>
            <a:ln w="22225">
              <a:solidFill>
                <a:srgbClr val="12294A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Cost #2">
              <a:extLst>
                <a:ext uri="{FF2B5EF4-FFF2-40B4-BE49-F238E27FC236}">
                  <a16:creationId xmlns:a16="http://schemas.microsoft.com/office/drawing/2014/main" id="{EF5127DE-E2FC-6772-E8F4-4755889EA35E}"/>
                </a:ext>
              </a:extLst>
            </p:cNvPr>
            <p:cNvSpPr txBox="1"/>
            <p:nvPr/>
          </p:nvSpPr>
          <p:spPr>
            <a:xfrm>
              <a:off x="8807223" y="3186535"/>
              <a:ext cx="822960" cy="201168"/>
            </a:xfrm>
            <a:prstGeom prst="rect">
              <a:avLst/>
            </a:prstGeom>
            <a:solidFill>
              <a:srgbClr val="12294A"/>
            </a:solidFill>
          </p:spPr>
          <p:txBody>
            <a:bodyPr wrap="square" lIns="36000" tIns="0" rIns="36000" bIns="0">
              <a:spAutoFit/>
            </a:bodyPr>
            <a:lstStyle>
              <a:defPPr>
                <a:defRPr kern="0"/>
              </a:defPPr>
            </a:lstStyle>
            <a:p>
              <a:pPr marL="12700" marR="5080" algn="ctr">
                <a:spcBef>
                  <a:spcPts val="0"/>
                </a:spcBef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#2  cost 1.1</a:t>
              </a:r>
            </a:p>
          </p:txBody>
        </p:sp>
        <p:sp>
          <p:nvSpPr>
            <p:cNvPr id="135" name="Gate tag 9">
              <a:extLst>
                <a:ext uri="{FF2B5EF4-FFF2-40B4-BE49-F238E27FC236}">
                  <a16:creationId xmlns:a16="http://schemas.microsoft.com/office/drawing/2014/main" id="{7F75735F-6EB9-5740-8A7D-C395EFF0C6F0}"/>
                </a:ext>
              </a:extLst>
            </p:cNvPr>
            <p:cNvSpPr txBox="1"/>
            <p:nvPr/>
          </p:nvSpPr>
          <p:spPr>
            <a:xfrm>
              <a:off x="9458250" y="2462727"/>
              <a:ext cx="548640" cy="201168"/>
            </a:xfrm>
            <a:prstGeom prst="rect">
              <a:avLst/>
            </a:prstGeom>
            <a:solidFill>
              <a:srgbClr val="E84A27"/>
            </a:solidFill>
          </p:spPr>
          <p:txBody>
            <a:bodyPr wrap="square" lIns="36000" tIns="0" rIns="36000" bIns="0">
              <a:spAutoFit/>
            </a:bodyPr>
            <a:lstStyle>
              <a:defPPr>
                <a:defRPr kern="0"/>
              </a:defPPr>
            </a:lstStyle>
            <a:p>
              <a:pPr marL="12700" marR="5080" algn="ctr">
                <a:spcBef>
                  <a:spcPts val="0"/>
                </a:spcBef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gate 9</a:t>
              </a:r>
            </a:p>
          </p:txBody>
        </p:sp>
        <p:cxnSp>
          <p:nvCxnSpPr>
            <p:cNvPr id="136" name="Match #3">
              <a:extLst>
                <a:ext uri="{FF2B5EF4-FFF2-40B4-BE49-F238E27FC236}">
                  <a16:creationId xmlns:a16="http://schemas.microsoft.com/office/drawing/2014/main" id="{65A8F924-F035-2515-FF23-6FC5D304A730}"/>
                </a:ext>
              </a:extLst>
            </p:cNvPr>
            <p:cNvCxnSpPr/>
            <p:nvPr/>
          </p:nvCxnSpPr>
          <p:spPr>
            <a:xfrm>
              <a:off x="10239405" y="2897430"/>
              <a:ext cx="155920" cy="47984"/>
            </a:xfrm>
            <a:prstGeom prst="line">
              <a:avLst/>
            </a:prstGeom>
            <a:ln w="22225">
              <a:solidFill>
                <a:srgbClr val="12294A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Cost #3">
              <a:extLst>
                <a:ext uri="{FF2B5EF4-FFF2-40B4-BE49-F238E27FC236}">
                  <a16:creationId xmlns:a16="http://schemas.microsoft.com/office/drawing/2014/main" id="{42ACE654-B746-E82C-6072-BF3A6841F632}"/>
                </a:ext>
              </a:extLst>
            </p:cNvPr>
            <p:cNvSpPr txBox="1"/>
            <p:nvPr/>
          </p:nvSpPr>
          <p:spPr>
            <a:xfrm>
              <a:off x="9370725" y="2952294"/>
              <a:ext cx="822960" cy="201168"/>
            </a:xfrm>
            <a:prstGeom prst="rect">
              <a:avLst/>
            </a:prstGeom>
            <a:solidFill>
              <a:srgbClr val="12294A"/>
            </a:solidFill>
          </p:spPr>
          <p:txBody>
            <a:bodyPr wrap="square" lIns="36000" tIns="0" rIns="36000" bIns="0">
              <a:spAutoFit/>
            </a:bodyPr>
            <a:lstStyle>
              <a:defPPr>
                <a:defRPr kern="0"/>
              </a:defPPr>
            </a:lstStyle>
            <a:p>
              <a:pPr marL="12700" marR="5080" algn="ctr">
                <a:spcBef>
                  <a:spcPts val="0"/>
                </a:spcBef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#3  cost 1.6</a:t>
              </a:r>
            </a:p>
          </p:txBody>
        </p:sp>
        <p:sp>
          <p:nvSpPr>
            <p:cNvPr id="138" name="Gate tag 10">
              <a:extLst>
                <a:ext uri="{FF2B5EF4-FFF2-40B4-BE49-F238E27FC236}">
                  <a16:creationId xmlns:a16="http://schemas.microsoft.com/office/drawing/2014/main" id="{A25A0BDB-6E17-442A-3031-36DDCB103258}"/>
                </a:ext>
              </a:extLst>
            </p:cNvPr>
            <p:cNvSpPr txBox="1"/>
            <p:nvPr/>
          </p:nvSpPr>
          <p:spPr>
            <a:xfrm>
              <a:off x="10121005" y="2080081"/>
              <a:ext cx="548640" cy="201168"/>
            </a:xfrm>
            <a:prstGeom prst="rect">
              <a:avLst/>
            </a:prstGeom>
            <a:solidFill>
              <a:srgbClr val="E84A27"/>
            </a:solidFill>
          </p:spPr>
          <p:txBody>
            <a:bodyPr wrap="square" lIns="36000" tIns="0" rIns="36000" bIns="0">
              <a:spAutoFit/>
            </a:bodyPr>
            <a:lstStyle>
              <a:defPPr>
                <a:defRPr kern="0"/>
              </a:defPPr>
            </a:lstStyle>
            <a:p>
              <a:pPr marL="12700" marR="5080" algn="ctr">
                <a:spcBef>
                  <a:spcPts val="0"/>
                </a:spcBef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gate 10</a:t>
              </a:r>
            </a:p>
          </p:txBody>
        </p:sp>
        <p:sp>
          <p:nvSpPr>
            <p:cNvPr id="139" name="Detected centre">
              <a:extLst>
                <a:ext uri="{FF2B5EF4-FFF2-40B4-BE49-F238E27FC236}">
                  <a16:creationId xmlns:a16="http://schemas.microsoft.com/office/drawing/2014/main" id="{9BF5136B-A7CE-36B2-707A-47798D1FC13F}"/>
                </a:ext>
              </a:extLst>
            </p:cNvPr>
            <p:cNvSpPr/>
            <p:nvPr/>
          </p:nvSpPr>
          <p:spPr>
            <a:xfrm>
              <a:off x="11288731" y="3172504"/>
              <a:ext cx="100584" cy="100584"/>
            </a:xfrm>
            <a:prstGeom prst="ellipse">
              <a:avLst/>
            </a:prstGeom>
            <a:solidFill>
              <a:srgbClr val="1E9E50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0" name="Detected centre">
              <a:extLst>
                <a:ext uri="{FF2B5EF4-FFF2-40B4-BE49-F238E27FC236}">
                  <a16:creationId xmlns:a16="http://schemas.microsoft.com/office/drawing/2014/main" id="{D561629D-2DB1-CE54-C835-FFD87FA67833}"/>
                </a:ext>
              </a:extLst>
            </p:cNvPr>
            <p:cNvSpPr/>
            <p:nvPr/>
          </p:nvSpPr>
          <p:spPr>
            <a:xfrm>
              <a:off x="9625611" y="3081379"/>
              <a:ext cx="100584" cy="100584"/>
            </a:xfrm>
            <a:prstGeom prst="ellipse">
              <a:avLst/>
            </a:prstGeom>
            <a:solidFill>
              <a:srgbClr val="1E9E50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1" name="Detected centre">
              <a:extLst>
                <a:ext uri="{FF2B5EF4-FFF2-40B4-BE49-F238E27FC236}">
                  <a16:creationId xmlns:a16="http://schemas.microsoft.com/office/drawing/2014/main" id="{9E4598B3-6DA4-6C13-90F3-B373A1AB0031}"/>
                </a:ext>
              </a:extLst>
            </p:cNvPr>
            <p:cNvSpPr/>
            <p:nvPr/>
          </p:nvSpPr>
          <p:spPr>
            <a:xfrm>
              <a:off x="10189113" y="2847138"/>
              <a:ext cx="100584" cy="100584"/>
            </a:xfrm>
            <a:prstGeom prst="ellipse">
              <a:avLst/>
            </a:prstGeom>
            <a:solidFill>
              <a:srgbClr val="1E9E50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2" name="Predicted centre gate 1">
              <a:extLst>
                <a:ext uri="{FF2B5EF4-FFF2-40B4-BE49-F238E27FC236}">
                  <a16:creationId xmlns:a16="http://schemas.microsoft.com/office/drawing/2014/main" id="{7625977C-8223-B17E-3AF0-CC10167A0BC0}"/>
                </a:ext>
              </a:extLst>
            </p:cNvPr>
            <p:cNvSpPr/>
            <p:nvPr/>
          </p:nvSpPr>
          <p:spPr>
            <a:xfrm>
              <a:off x="11373154" y="3154390"/>
              <a:ext cx="128016" cy="128016"/>
            </a:xfrm>
            <a:prstGeom prst="mathMultiply">
              <a:avLst/>
            </a:prstGeom>
            <a:solidFill>
              <a:srgbClr val="E84A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3" name="Predicted centre gate 9">
              <a:extLst>
                <a:ext uri="{FF2B5EF4-FFF2-40B4-BE49-F238E27FC236}">
                  <a16:creationId xmlns:a16="http://schemas.microsoft.com/office/drawing/2014/main" id="{3460F62A-0F20-6AA3-80CE-0607ABCCFF0E}"/>
                </a:ext>
              </a:extLst>
            </p:cNvPr>
            <p:cNvSpPr/>
            <p:nvPr/>
          </p:nvSpPr>
          <p:spPr>
            <a:xfrm>
              <a:off x="9668562" y="3208330"/>
              <a:ext cx="128016" cy="128016"/>
            </a:xfrm>
            <a:prstGeom prst="mathMultiply">
              <a:avLst/>
            </a:prstGeom>
            <a:solidFill>
              <a:srgbClr val="E84A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4" name="Predicted centre gate 10">
              <a:extLst>
                <a:ext uri="{FF2B5EF4-FFF2-40B4-BE49-F238E27FC236}">
                  <a16:creationId xmlns:a16="http://schemas.microsoft.com/office/drawing/2014/main" id="{278AE53D-C556-1C27-0515-E8526FAD1974}"/>
                </a:ext>
              </a:extLst>
            </p:cNvPr>
            <p:cNvSpPr/>
            <p:nvPr/>
          </p:nvSpPr>
          <p:spPr>
            <a:xfrm>
              <a:off x="10331317" y="2881406"/>
              <a:ext cx="128016" cy="128016"/>
            </a:xfrm>
            <a:prstGeom prst="mathMultiply">
              <a:avLst/>
            </a:prstGeom>
            <a:solidFill>
              <a:srgbClr val="E84A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5" name="Legend symbol">
              <a:extLst>
                <a:ext uri="{FF2B5EF4-FFF2-40B4-BE49-F238E27FC236}">
                  <a16:creationId xmlns:a16="http://schemas.microsoft.com/office/drawing/2014/main" id="{10BA6BD5-A4B1-87B5-A1A5-118E339E677E}"/>
                </a:ext>
              </a:extLst>
            </p:cNvPr>
            <p:cNvSpPr/>
            <p:nvPr/>
          </p:nvSpPr>
          <p:spPr>
            <a:xfrm>
              <a:off x="4608576" y="5029200"/>
              <a:ext cx="109728" cy="109728"/>
            </a:xfrm>
            <a:prstGeom prst="ellipse">
              <a:avLst/>
            </a:prstGeom>
            <a:solidFill>
              <a:srgbClr val="1E9E50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6" name="Legend text">
              <a:extLst>
                <a:ext uri="{FF2B5EF4-FFF2-40B4-BE49-F238E27FC236}">
                  <a16:creationId xmlns:a16="http://schemas.microsoft.com/office/drawing/2014/main" id="{054A619B-096E-A39E-CC69-0315ADFA3524}"/>
                </a:ext>
              </a:extLst>
            </p:cNvPr>
            <p:cNvSpPr txBox="1"/>
            <p:nvPr/>
          </p:nvSpPr>
          <p:spPr>
            <a:xfrm>
              <a:off x="4873752" y="4983479"/>
              <a:ext cx="3291840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</a:lstStyle>
            <a:p>
              <a:pPr marL="12700" marR="5080" algn="l">
                <a:spcBef>
                  <a:spcPts val="0"/>
                </a:spcBef>
                <a:buNone/>
              </a:pPr>
              <a:r>
                <a:rPr lang="en-US" sz="1050">
                  <a:solidFill>
                    <a:srgbClr val="12294A"/>
                  </a:solidFill>
                  <a:latin typeface="Calibri"/>
                  <a:ea typeface="Calibri"/>
                  <a:cs typeface="Calibri"/>
                </a:rPr>
                <a:t>detected gate center (from segmentation)</a:t>
              </a:r>
            </a:p>
          </p:txBody>
        </p:sp>
        <p:sp>
          <p:nvSpPr>
            <p:cNvPr id="147" name="Legend symbol">
              <a:extLst>
                <a:ext uri="{FF2B5EF4-FFF2-40B4-BE49-F238E27FC236}">
                  <a16:creationId xmlns:a16="http://schemas.microsoft.com/office/drawing/2014/main" id="{AB856C3E-5749-97A0-3EE7-F5941A4C14E2}"/>
                </a:ext>
              </a:extLst>
            </p:cNvPr>
            <p:cNvSpPr/>
            <p:nvPr/>
          </p:nvSpPr>
          <p:spPr>
            <a:xfrm>
              <a:off x="4553712" y="5248655"/>
              <a:ext cx="219456" cy="164592"/>
            </a:xfrm>
            <a:prstGeom prst="rect">
              <a:avLst/>
            </a:prstGeom>
            <a:noFill/>
            <a:ln w="19050">
              <a:solidFill>
                <a:srgbClr val="1E9E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8" name="Legend text">
              <a:extLst>
                <a:ext uri="{FF2B5EF4-FFF2-40B4-BE49-F238E27FC236}">
                  <a16:creationId xmlns:a16="http://schemas.microsoft.com/office/drawing/2014/main" id="{43BBE316-8F8D-993F-15EF-CECBFC8A1730}"/>
                </a:ext>
              </a:extLst>
            </p:cNvPr>
            <p:cNvSpPr txBox="1"/>
            <p:nvPr/>
          </p:nvSpPr>
          <p:spPr>
            <a:xfrm>
              <a:off x="4873752" y="5230367"/>
              <a:ext cx="3291840" cy="2286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</a:lstStyle>
            <a:p>
              <a:pPr marL="12700" marR="5080" algn="l">
                <a:spcBef>
                  <a:spcPts val="0"/>
                </a:spcBef>
                <a:buNone/>
              </a:pPr>
              <a:r>
                <a:rPr lang="en-US" sz="1050">
                  <a:solidFill>
                    <a:srgbClr val="12294A"/>
                  </a:solidFill>
                  <a:latin typeface="Calibri"/>
                  <a:ea typeface="Calibri"/>
                  <a:cs typeface="Calibri"/>
                </a:rPr>
                <a:t>detected gate blob</a:t>
              </a:r>
            </a:p>
          </p:txBody>
        </p:sp>
        <p:sp>
          <p:nvSpPr>
            <p:cNvPr id="149" name="Legend symbol">
              <a:extLst>
                <a:ext uri="{FF2B5EF4-FFF2-40B4-BE49-F238E27FC236}">
                  <a16:creationId xmlns:a16="http://schemas.microsoft.com/office/drawing/2014/main" id="{0B0BFF56-D67D-6825-00C3-CEB347677FBA}"/>
                </a:ext>
              </a:extLst>
            </p:cNvPr>
            <p:cNvSpPr/>
            <p:nvPr/>
          </p:nvSpPr>
          <p:spPr>
            <a:xfrm>
              <a:off x="4590288" y="5504688"/>
              <a:ext cx="146304" cy="146304"/>
            </a:xfrm>
            <a:prstGeom prst="mathMultiply">
              <a:avLst/>
            </a:prstGeom>
            <a:solidFill>
              <a:srgbClr val="E84A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50" name="Legend text">
              <a:extLst>
                <a:ext uri="{FF2B5EF4-FFF2-40B4-BE49-F238E27FC236}">
                  <a16:creationId xmlns:a16="http://schemas.microsoft.com/office/drawing/2014/main" id="{DE385C23-0CFE-776D-9029-52E7CA5A6E5C}"/>
                </a:ext>
              </a:extLst>
            </p:cNvPr>
            <p:cNvSpPr txBox="1"/>
            <p:nvPr/>
          </p:nvSpPr>
          <p:spPr>
            <a:xfrm>
              <a:off x="4873752" y="5477255"/>
              <a:ext cx="3291840" cy="16158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</a:lstStyle>
            <a:p>
              <a:pPr marL="12700" marR="5080" algn="l">
                <a:spcBef>
                  <a:spcPts val="0"/>
                </a:spcBef>
                <a:buNone/>
              </a:pPr>
              <a:r>
                <a:rPr lang="en-US" sz="1050">
                  <a:solidFill>
                    <a:srgbClr val="12294A"/>
                  </a:solidFill>
                  <a:latin typeface="Calibri"/>
                  <a:ea typeface="Calibri"/>
                  <a:cs typeface="Calibri"/>
                </a:rPr>
                <a:t>predicted gate center (from KF)</a:t>
              </a:r>
            </a:p>
          </p:txBody>
        </p:sp>
        <p:sp>
          <p:nvSpPr>
            <p:cNvPr id="151" name="Legend symbol">
              <a:extLst>
                <a:ext uri="{FF2B5EF4-FFF2-40B4-BE49-F238E27FC236}">
                  <a16:creationId xmlns:a16="http://schemas.microsoft.com/office/drawing/2014/main" id="{E8180ECC-072F-07F2-8921-6379F2DC5748}"/>
                </a:ext>
              </a:extLst>
            </p:cNvPr>
            <p:cNvSpPr/>
            <p:nvPr/>
          </p:nvSpPr>
          <p:spPr>
            <a:xfrm>
              <a:off x="4553712" y="5742432"/>
              <a:ext cx="219456" cy="164592"/>
            </a:xfrm>
            <a:prstGeom prst="rect">
              <a:avLst/>
            </a:prstGeom>
            <a:noFill/>
            <a:ln w="19050">
              <a:solidFill>
                <a:srgbClr val="E84A27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52" name="Legend text">
              <a:extLst>
                <a:ext uri="{FF2B5EF4-FFF2-40B4-BE49-F238E27FC236}">
                  <a16:creationId xmlns:a16="http://schemas.microsoft.com/office/drawing/2014/main" id="{703C4A39-7C56-8759-1461-3977F69CFD25}"/>
                </a:ext>
              </a:extLst>
            </p:cNvPr>
            <p:cNvSpPr txBox="1"/>
            <p:nvPr/>
          </p:nvSpPr>
          <p:spPr>
            <a:xfrm>
              <a:off x="4873752" y="5724144"/>
              <a:ext cx="3291840" cy="2286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</a:lstStyle>
            <a:p>
              <a:pPr marL="12700" marR="5080" algn="l">
                <a:spcBef>
                  <a:spcPts val="0"/>
                </a:spcBef>
                <a:buNone/>
              </a:pPr>
              <a:r>
                <a:rPr lang="en-US" sz="1050">
                  <a:solidFill>
                    <a:srgbClr val="12294A"/>
                  </a:solidFill>
                  <a:latin typeface="Calibri"/>
                  <a:ea typeface="Calibri"/>
                  <a:cs typeface="Calibri"/>
                </a:rPr>
                <a:t>predicted gate outline</a:t>
              </a:r>
            </a:p>
          </p:txBody>
        </p:sp>
        <p:sp>
          <p:nvSpPr>
            <p:cNvPr id="153" name="Legend symbol">
              <a:extLst>
                <a:ext uri="{FF2B5EF4-FFF2-40B4-BE49-F238E27FC236}">
                  <a16:creationId xmlns:a16="http://schemas.microsoft.com/office/drawing/2014/main" id="{51357909-F652-DE7D-F137-D7174FA44B36}"/>
                </a:ext>
              </a:extLst>
            </p:cNvPr>
            <p:cNvSpPr/>
            <p:nvPr/>
          </p:nvSpPr>
          <p:spPr>
            <a:xfrm>
              <a:off x="8229600" y="4992624"/>
              <a:ext cx="182880" cy="182880"/>
            </a:xfrm>
            <a:prstGeom prst="ellipse">
              <a:avLst/>
            </a:prstGeom>
            <a:noFill/>
            <a:ln>
              <a:solidFill>
                <a:srgbClr val="E84A27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0"/>
              </a:defPPr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54" name="Legend text">
              <a:extLst>
                <a:ext uri="{FF2B5EF4-FFF2-40B4-BE49-F238E27FC236}">
                  <a16:creationId xmlns:a16="http://schemas.microsoft.com/office/drawing/2014/main" id="{BC5F9B09-3EE1-518C-5D53-7221A7FA2CE3}"/>
                </a:ext>
              </a:extLst>
            </p:cNvPr>
            <p:cNvSpPr txBox="1"/>
            <p:nvPr/>
          </p:nvSpPr>
          <p:spPr>
            <a:xfrm>
              <a:off x="8531352" y="4983479"/>
              <a:ext cx="3291840" cy="2286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</a:lstStyle>
            <a:p>
              <a:pPr marL="12700" marR="5080" algn="l">
                <a:spcBef>
                  <a:spcPts val="0"/>
                </a:spcBef>
                <a:buNone/>
              </a:pPr>
              <a:r>
                <a:rPr lang="en-US" sz="1050">
                  <a:solidFill>
                    <a:srgbClr val="12294A"/>
                  </a:solidFill>
                  <a:latin typeface="Calibri"/>
                  <a:ea typeface="Calibri"/>
                  <a:cs typeface="Calibri"/>
                </a:rPr>
                <a:t>3σ circle: reject if cost &gt; 3</a:t>
              </a:r>
            </a:p>
          </p:txBody>
        </p:sp>
        <p:sp>
          <p:nvSpPr>
            <p:cNvPr id="157" name="Legend symbol">
              <a:extLst>
                <a:ext uri="{FF2B5EF4-FFF2-40B4-BE49-F238E27FC236}">
                  <a16:creationId xmlns:a16="http://schemas.microsoft.com/office/drawing/2014/main" id="{183CF6A8-5483-BA12-1306-491FC301AA5B}"/>
                </a:ext>
              </a:extLst>
            </p:cNvPr>
            <p:cNvSpPr txBox="1"/>
            <p:nvPr/>
          </p:nvSpPr>
          <p:spPr>
            <a:xfrm>
              <a:off x="8195720" y="5256107"/>
              <a:ext cx="274320" cy="201168"/>
            </a:xfrm>
            <a:prstGeom prst="rect">
              <a:avLst/>
            </a:prstGeom>
            <a:solidFill>
              <a:srgbClr val="E84A27"/>
            </a:solidFill>
          </p:spPr>
          <p:txBody>
            <a:bodyPr wrap="square" lIns="36000" tIns="0" rIns="36000" bIns="0">
              <a:spAutoFit/>
            </a:bodyPr>
            <a:lstStyle>
              <a:defPPr>
                <a:defRPr kern="0"/>
              </a:defPPr>
            </a:lstStyle>
            <a:p>
              <a:pPr marL="12700" marR="5080" algn="ctr">
                <a:spcBef>
                  <a:spcPts val="0"/>
                </a:spcBef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N</a:t>
              </a:r>
            </a:p>
          </p:txBody>
        </p:sp>
        <p:sp>
          <p:nvSpPr>
            <p:cNvPr id="158" name="Legend text">
              <a:extLst>
                <a:ext uri="{FF2B5EF4-FFF2-40B4-BE49-F238E27FC236}">
                  <a16:creationId xmlns:a16="http://schemas.microsoft.com/office/drawing/2014/main" id="{FAA3D820-5194-9BFB-509F-D4F8F129E8B0}"/>
                </a:ext>
              </a:extLst>
            </p:cNvPr>
            <p:cNvSpPr txBox="1"/>
            <p:nvPr/>
          </p:nvSpPr>
          <p:spPr>
            <a:xfrm>
              <a:off x="8543193" y="5256107"/>
              <a:ext cx="3291840" cy="2286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</a:lstStyle>
            <a:p>
              <a:pPr marL="12700" marR="5080" algn="l">
                <a:spcBef>
                  <a:spcPts val="0"/>
                </a:spcBef>
                <a:buNone/>
              </a:pPr>
              <a:r>
                <a:rPr lang="en-US" sz="1050">
                  <a:solidFill>
                    <a:srgbClr val="12294A"/>
                  </a:solidFill>
                  <a:latin typeface="Calibri"/>
                  <a:ea typeface="Calibri"/>
                  <a:cs typeface="Calibri"/>
                </a:rPr>
                <a:t>gate number, same as in the map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22960" y="601757"/>
            <a:ext cx="100584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/>
              <a:t>PnP</a:t>
            </a:r>
            <a:r>
              <a:rPr lang="en-US" spc="-10"/>
              <a:t> Data Augmentation</a:t>
            </a:r>
            <a:endParaRPr spc="-1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536257" y="6426420"/>
            <a:ext cx="1984375" cy="1949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t>EC</a:t>
            </a:r>
            <a:r>
              <a:rPr lang="en-US"/>
              <a:t>E484</a:t>
            </a:r>
            <a:endParaRPr spc="-1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909934" y="6436893"/>
            <a:ext cx="411480" cy="21717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11</a:t>
            </a:fld>
            <a:endParaRPr spc="-25"/>
          </a:p>
        </p:txBody>
      </p:sp>
      <p:sp>
        <p:nvSpPr>
          <p:cNvPr id="6" name="Text build_T_base_cam()"/>
          <p:cNvSpPr txBox="1"/>
          <p:nvPr/>
        </p:nvSpPr>
        <p:spPr>
          <a:xfrm>
            <a:off x="656837" y="1967952"/>
            <a:ext cx="5120640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2700" marR="5080">
              <a:spcBef>
                <a:spcPts val="0"/>
              </a:spcBef>
              <a:buNone/>
            </a:pPr>
            <a:r>
              <a:rPr lang="en-US" sz="2000" err="1">
                <a:solidFill>
                  <a:srgbClr val="12294A"/>
                </a:solidFill>
                <a:latin typeface="Courier New"/>
                <a:ea typeface="Courier New"/>
                <a:cs typeface="Courier New"/>
              </a:rPr>
              <a:t>build_T_base_cam</a:t>
            </a:r>
            <a:r>
              <a:rPr lang="en-US" sz="2000">
                <a:solidFill>
                  <a:srgbClr val="12294A"/>
                </a:solidFill>
                <a:latin typeface="Courier New"/>
                <a:ea typeface="Courier New"/>
                <a:cs typeface="Courier New"/>
              </a:rPr>
              <a:t>()</a:t>
            </a:r>
          </a:p>
          <a:p>
            <a:pPr marL="298450" marR="5080" indent="-285750">
              <a:spcBef>
                <a:spcPts val="0"/>
              </a:spcBef>
              <a:buFontTx/>
              <a:buChar char="-"/>
            </a:pPr>
            <a:r>
              <a:rPr lang="en-US" sz="2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Outputs </a:t>
            </a:r>
            <a:r>
              <a:rPr lang="en-US" altLang="zh-CN" sz="2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the camera </a:t>
            </a:r>
            <a:r>
              <a:rPr lang="en-US" altLang="zh-CN" sz="2000" err="1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extrinsics</a:t>
            </a:r>
            <a:r>
              <a:rPr lang="en-US" altLang="zh-CN" sz="2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 T</a:t>
            </a:r>
            <a:r>
              <a:rPr lang="en-US" altLang="zh-CN" sz="2000" baseline="-25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BC</a:t>
            </a:r>
            <a:r>
              <a:rPr lang="en-US" altLang="zh-CN" sz="2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, where the camera sits on the drone</a:t>
            </a:r>
          </a:p>
          <a:p>
            <a:pPr marL="298450" marR="5080" indent="-285750">
              <a:spcBef>
                <a:spcPts val="0"/>
              </a:spcBef>
              <a:buFontTx/>
              <a:buChar char="-"/>
            </a:pPr>
            <a:endParaRPr lang="en-US" sz="2000">
              <a:solidFill>
                <a:srgbClr val="12294A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" name="Figure build_T_base_cam()" descr="fig_extrinsics.png"/>
          <p:cNvPicPr>
            <a:picLocks noChangeAspect="1"/>
          </p:cNvPicPr>
          <p:nvPr/>
        </p:nvPicPr>
        <p:blipFill>
          <a:blip r:embed="rId2"/>
          <a:srcRect t="11464"/>
          <a:stretch>
            <a:fillRect/>
          </a:stretch>
        </p:blipFill>
        <p:spPr>
          <a:xfrm>
            <a:off x="870586" y="3506835"/>
            <a:ext cx="4494051" cy="1781070"/>
          </a:xfrm>
          <a:prstGeom prst="rect">
            <a:avLst/>
          </a:prstGeom>
        </p:spPr>
      </p:pic>
      <p:sp>
        <p:nvSpPr>
          <p:cNvPr id="9" name="Text body_pose_from_pnp()"/>
          <p:cNvSpPr txBox="1"/>
          <p:nvPr/>
        </p:nvSpPr>
        <p:spPr>
          <a:xfrm>
            <a:off x="6200774" y="1890117"/>
            <a:ext cx="5120640" cy="1538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2700" marR="5080">
              <a:spcBef>
                <a:spcPts val="0"/>
              </a:spcBef>
              <a:buNone/>
            </a:pPr>
            <a:r>
              <a:rPr lang="en-US" sz="2000" err="1">
                <a:solidFill>
                  <a:srgbClr val="12294A"/>
                </a:solidFill>
                <a:latin typeface="Courier New"/>
                <a:ea typeface="Courier New"/>
                <a:cs typeface="Courier New"/>
              </a:rPr>
              <a:t>Body_pose_from_pnp</a:t>
            </a:r>
            <a:r>
              <a:rPr lang="en-US" sz="2000">
                <a:solidFill>
                  <a:srgbClr val="12294A"/>
                </a:solidFill>
                <a:latin typeface="Courier New"/>
                <a:ea typeface="Courier New"/>
                <a:cs typeface="Courier New"/>
              </a:rPr>
              <a:t>()</a:t>
            </a:r>
            <a:endParaRPr lang="en-US" altLang="zh-CN" sz="2000">
              <a:solidFill>
                <a:srgbClr val="12294A"/>
              </a:solidFill>
              <a:latin typeface="Courier New"/>
              <a:ea typeface="Courier New"/>
              <a:cs typeface="Courier New"/>
            </a:endParaRPr>
          </a:p>
          <a:p>
            <a:pPr marL="298450" marR="5080" indent="-285750">
              <a:buFontTx/>
              <a:buChar char="-"/>
            </a:pPr>
            <a:r>
              <a:rPr lang="en-US" altLang="zh-CN" sz="2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Outputs drone pose T</a:t>
            </a:r>
            <a:r>
              <a:rPr lang="en-US" altLang="zh-CN" sz="2000" baseline="-25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WB</a:t>
            </a:r>
          </a:p>
          <a:p>
            <a:pPr marL="298450" marR="5080" indent="-285750">
              <a:buFontTx/>
              <a:buChar char="-"/>
            </a:pPr>
            <a:r>
              <a:rPr lang="en-US" sz="2000">
                <a:solidFill>
                  <a:srgbClr val="12294A"/>
                </a:solidFill>
                <a:latin typeface="Calibri"/>
                <a:ea typeface="Calibri"/>
                <a:cs typeface="Calibri"/>
              </a:rPr>
              <a:t>PnP solves for the camera pose relative to the gates, but the Kalman Filter uses drone body pose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pc="-25"/>
              <a:t>Kalman Filter</a:t>
            </a:r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33425" y="1296808"/>
            <a:ext cx="4777847" cy="3799117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endParaRPr lang="en-US" sz="2000" spc="-10">
              <a:latin typeface="Source Sans 3"/>
            </a:endParaRPr>
          </a:p>
          <a:p>
            <a:pPr marL="12700">
              <a:spcBef>
                <a:spcPts val="125"/>
              </a:spcBef>
            </a:pPr>
            <a:r>
              <a:rPr lang="en-US" sz="2000" spc="-10">
                <a:latin typeface="Source Sans 3"/>
              </a:rPr>
              <a:t>In this MP, the Kalman Filter will fuse position and velocity, so the state is:</a:t>
            </a:r>
            <a:endParaRPr lang="en-US" sz="2000" spc="-10">
              <a:solidFill>
                <a:srgbClr val="12294A"/>
              </a:solidFill>
              <a:latin typeface="Source Sans 3"/>
            </a:endParaRPr>
          </a:p>
          <a:p>
            <a:pPr marL="12700">
              <a:spcBef>
                <a:spcPts val="125"/>
              </a:spcBef>
            </a:pPr>
            <a:endParaRPr lang="en-US" sz="2000" spc="-10">
              <a:latin typeface="Source Sans 3"/>
            </a:endParaRPr>
          </a:p>
          <a:p>
            <a:pPr marL="12700">
              <a:spcBef>
                <a:spcPts val="125"/>
              </a:spcBef>
            </a:pPr>
            <a:endParaRPr lang="en-US" sz="2000" spc="-10">
              <a:latin typeface="Source Sans 3"/>
            </a:endParaRPr>
          </a:p>
          <a:p>
            <a:pPr marL="12700">
              <a:spcBef>
                <a:spcPts val="125"/>
              </a:spcBef>
            </a:pPr>
            <a:endParaRPr lang="en-US" sz="2000" spc="-10">
              <a:latin typeface="Source Sans 3"/>
            </a:endParaRPr>
          </a:p>
          <a:p>
            <a:pPr marL="355600" indent="-342900">
              <a:spcBef>
                <a:spcPts val="125"/>
              </a:spcBef>
              <a:buFont typeface="Arial"/>
              <a:buChar char="•"/>
            </a:pPr>
            <a:r>
              <a:rPr lang="en-US" sz="2000" spc="-10">
                <a:latin typeface="Source Sans 3"/>
              </a:rPr>
              <a:t>Stores the state estimate as</a:t>
            </a:r>
            <a:r>
              <a:rPr lang="en-US" sz="2000" spc="-10">
                <a:solidFill>
                  <a:srgbClr val="000000"/>
                </a:solidFill>
                <a:latin typeface="Source Sans 3"/>
              </a:rPr>
              <a:t> a mean and covariance</a:t>
            </a:r>
            <a:endParaRPr lang="en-US" sz="2000" spc="-10">
              <a:solidFill>
                <a:srgbClr val="12294A"/>
              </a:solidFill>
              <a:latin typeface="Source Sans 3"/>
            </a:endParaRPr>
          </a:p>
          <a:p>
            <a:pPr marL="355600" indent="-342900">
              <a:spcBef>
                <a:spcPts val="125"/>
              </a:spcBef>
              <a:buFont typeface="Arial"/>
              <a:buChar char="•"/>
            </a:pPr>
            <a:r>
              <a:rPr lang="en-US" sz="2000" spc="-10">
                <a:latin typeface="Source Sans 3"/>
              </a:rPr>
              <a:t>State continuously propagated as VIO Odometry published</a:t>
            </a:r>
            <a:endParaRPr lang="en-US" sz="2000" spc="-10">
              <a:solidFill>
                <a:srgbClr val="12294A"/>
              </a:solidFill>
              <a:latin typeface="Source Sans 3"/>
            </a:endParaRPr>
          </a:p>
          <a:p>
            <a:pPr marL="355600" indent="-342900">
              <a:spcBef>
                <a:spcPts val="125"/>
              </a:spcBef>
              <a:buFont typeface="Arial"/>
              <a:buChar char="•"/>
            </a:pPr>
            <a:r>
              <a:rPr lang="en-US" sz="2000" spc="-10">
                <a:solidFill>
                  <a:srgbClr val="000000"/>
                </a:solidFill>
                <a:latin typeface="Source Sans 3"/>
              </a:rPr>
              <a:t>State updated as PnP measurement published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12</a:t>
            </a:fld>
            <a:endParaRPr spc="-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7C0D9A-0D17-956F-C5F7-172F3B6B92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727"/>
          <a:stretch>
            <a:fillRect/>
          </a:stretch>
        </p:blipFill>
        <p:spPr>
          <a:xfrm>
            <a:off x="1303800" y="2445991"/>
            <a:ext cx="3215191" cy="752476"/>
          </a:xfrm>
          <a:prstGeom prst="rect">
            <a:avLst/>
          </a:prstGeom>
        </p:spPr>
      </p:pic>
      <p:pic>
        <p:nvPicPr>
          <p:cNvPr id="8" name="Picture 7" descr="A diagram of a model&#10;&#10;AI-generated content may be incorrect.">
            <a:extLst>
              <a:ext uri="{FF2B5EF4-FFF2-40B4-BE49-F238E27FC236}">
                <a16:creationId xmlns:a16="http://schemas.microsoft.com/office/drawing/2014/main" id="{2521EEF3-C098-1C83-784C-55BBFDF0A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694" y="1562100"/>
            <a:ext cx="6429375" cy="3733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42373292-4839-A9C8-1F9F-5BD62E62923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6257" y="6437625"/>
            <a:ext cx="3396316" cy="194925"/>
          </a:xfrm>
          <a:prstGeom prst="rect">
            <a:avLst/>
          </a:prstGeom>
        </p:spPr>
        <p:txBody>
          <a:bodyPr vert="horz" wrap="square" lIns="0" tIns="1016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/>
              <a:t>ECE484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3425" y="527430"/>
            <a:ext cx="7171690" cy="1001556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pc="-35">
                <a:latin typeface="Source Sans 3"/>
                <a:cs typeface="Source Sans 3"/>
              </a:rPr>
              <a:t>Prediction Step (On VIO Odometry input)</a:t>
            </a:r>
            <a:br>
              <a:rPr lang="en-US" spc="-35">
                <a:latin typeface="Source Sans 3"/>
                <a:cs typeface="Source Sans 3"/>
              </a:rPr>
            </a:br>
            <a:endParaRPr spc="-1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13</a:t>
            </a:fld>
            <a:endParaRPr spc="-25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F6EDFF6-BD77-49CF-9993-791217635E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4303" b="-4028"/>
          <a:stretch>
            <a:fillRect/>
          </a:stretch>
        </p:blipFill>
        <p:spPr>
          <a:xfrm>
            <a:off x="733425" y="2548038"/>
            <a:ext cx="5941789" cy="1674557"/>
          </a:xfrm>
          <a:prstGeom prst="rect">
            <a:avLst/>
          </a:prstGeom>
        </p:spPr>
      </p:pic>
      <p:pic>
        <p:nvPicPr>
          <p:cNvPr id="18" name="Picture 17" descr="A graph with blue and purple lines&#10;&#10;AI-generated content may be incorrect.">
            <a:extLst>
              <a:ext uri="{FF2B5EF4-FFF2-40B4-BE49-F238E27FC236}">
                <a16:creationId xmlns:a16="http://schemas.microsoft.com/office/drawing/2014/main" id="{42A02756-470E-A77E-D3D9-BFF1E976C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726" y="1762697"/>
            <a:ext cx="4924725" cy="35910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E44B5D1-F70C-BA17-6AA6-2AA0A7F432A1}"/>
              </a:ext>
            </a:extLst>
          </p:cNvPr>
          <p:cNvSpPr txBox="1"/>
          <p:nvPr/>
        </p:nvSpPr>
        <p:spPr>
          <a:xfrm>
            <a:off x="7634025" y="2317206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/>
              <a:t>prior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6D5D599E-8C00-B803-CD2F-54F99EDF1EC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6257" y="6437625"/>
            <a:ext cx="3396316" cy="194925"/>
          </a:xfrm>
          <a:prstGeom prst="rect">
            <a:avLst/>
          </a:prstGeom>
        </p:spPr>
        <p:txBody>
          <a:bodyPr vert="horz" wrap="square" lIns="0" tIns="1016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/>
              <a:t>ECE484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F225F-B1E5-1E6B-194A-4304F9E99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527430"/>
            <a:ext cx="8430672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Update/Correction Step (On PnP pose input)</a:t>
            </a:r>
          </a:p>
        </p:txBody>
      </p:sp>
      <p:pic>
        <p:nvPicPr>
          <p:cNvPr id="4" name="Picture 3" descr="A black and orange rectangular sign with black text&#10;&#10;AI-generated content may be incorrect.">
            <a:extLst>
              <a:ext uri="{FF2B5EF4-FFF2-40B4-BE49-F238E27FC236}">
                <a16:creationId xmlns:a16="http://schemas.microsoft.com/office/drawing/2014/main" id="{498B3608-1C5F-469C-EF50-9DCF04FA2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00" y="3323989"/>
            <a:ext cx="11046000" cy="26700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0C3085-FCE4-F56A-99E8-3BA51D8B9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499" y="1119418"/>
            <a:ext cx="6562725" cy="2105025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7832E9FE-8E4B-C974-66F6-24BB27A8509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6257" y="6437625"/>
            <a:ext cx="3396316" cy="194925"/>
          </a:xfrm>
          <a:prstGeom prst="rect">
            <a:avLst/>
          </a:prstGeom>
        </p:spPr>
        <p:txBody>
          <a:bodyPr vert="horz" wrap="square" lIns="0" tIns="1016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/>
              <a:t>ECE484</a:t>
            </a:r>
          </a:p>
        </p:txBody>
      </p:sp>
    </p:spTree>
    <p:extLst>
      <p:ext uri="{BB962C8B-B14F-4D97-AF65-F5344CB8AC3E}">
        <p14:creationId xmlns:p14="http://schemas.microsoft.com/office/powerpoint/2010/main" val="1871462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A9D2-A7AA-54A1-2F45-C5FA991F0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527430"/>
            <a:ext cx="7171690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err="1"/>
              <a:t>Rosbag</a:t>
            </a:r>
            <a:r>
              <a:rPr lang="en-US"/>
              <a:t>/Gazebo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3397F-7865-9134-F66C-6A9D55AB9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4385" y="1354906"/>
            <a:ext cx="9655319" cy="2769989"/>
          </a:xfrm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800" err="1"/>
              <a:t>Rosbags</a:t>
            </a:r>
            <a:r>
              <a:rPr lang="en-US" sz="2800"/>
              <a:t> replay previously recorded topics in time order</a:t>
            </a:r>
          </a:p>
          <a:p>
            <a:pPr marL="812800" lvl="2" indent="-342900">
              <a:buFont typeface="Arial"/>
              <a:buChar char="•"/>
              <a:tabLst>
                <a:tab pos="355600" algn="l"/>
              </a:tabLst>
            </a:pPr>
            <a:r>
              <a:rPr lang="en-US" sz="2400">
                <a:solidFill>
                  <a:srgbClr val="12294A"/>
                </a:solidFill>
                <a:latin typeface="Source Sans 3"/>
              </a:rPr>
              <a:t>You will be evaluated on two </a:t>
            </a:r>
            <a:r>
              <a:rPr lang="en-US" sz="2400" err="1">
                <a:solidFill>
                  <a:srgbClr val="12294A"/>
                </a:solidFill>
                <a:latin typeface="Source Sans 3"/>
              </a:rPr>
              <a:t>Rosbags</a:t>
            </a:r>
            <a:r>
              <a:rPr lang="en-US" sz="2400">
                <a:solidFill>
                  <a:srgbClr val="12294A"/>
                </a:solidFill>
                <a:latin typeface="Source Sans 3"/>
              </a:rPr>
              <a:t>. </a:t>
            </a:r>
          </a:p>
          <a:p>
            <a:pPr marL="812800" lvl="2" indent="-342900">
              <a:buFont typeface="Arial"/>
              <a:buChar char="•"/>
              <a:tabLst>
                <a:tab pos="355600" algn="l"/>
              </a:tabLst>
            </a:pPr>
            <a:endParaRPr lang="en-US" sz="2400">
              <a:solidFill>
                <a:srgbClr val="12294A"/>
              </a:solidFill>
              <a:latin typeface="Source Sans 3"/>
            </a:endParaRPr>
          </a:p>
          <a:p>
            <a:pPr marL="342900" lvl="1" indent="-342900"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800">
                <a:solidFill>
                  <a:srgbClr val="12294A"/>
                </a:solidFill>
                <a:latin typeface="Source Sans 3"/>
              </a:rPr>
              <a:t>Gazebo simulator also provided for your testing purposes. We will NOT be evaluating through Gazebo</a:t>
            </a:r>
          </a:p>
          <a:p>
            <a:pPr marL="812800" lvl="2" indent="-342900">
              <a:buFont typeface="Arial"/>
              <a:buChar char="•"/>
              <a:tabLst>
                <a:tab pos="355600" algn="l"/>
              </a:tabLst>
            </a:pPr>
            <a:r>
              <a:rPr lang="en-US" sz="2400">
                <a:solidFill>
                  <a:srgbClr val="12294A"/>
                </a:solidFill>
                <a:latin typeface="Source Sans 3"/>
              </a:rPr>
              <a:t>Gazebo environment contains the same gate configuration as the one in </a:t>
            </a:r>
            <a:r>
              <a:rPr lang="en-US" sz="2400" err="1">
                <a:solidFill>
                  <a:srgbClr val="12294A"/>
                </a:solidFill>
                <a:latin typeface="Source Sans 3"/>
              </a:rPr>
              <a:t>Rosbags</a:t>
            </a:r>
            <a:endParaRPr lang="en-US" sz="2400">
              <a:solidFill>
                <a:srgbClr val="12294A"/>
              </a:solidFill>
              <a:latin typeface="Source Sans 3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3B672AC-B07C-C297-3EBB-4B433866265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6257" y="6437625"/>
            <a:ext cx="3396316" cy="194925"/>
          </a:xfrm>
          <a:prstGeom prst="rect">
            <a:avLst/>
          </a:prstGeom>
        </p:spPr>
        <p:txBody>
          <a:bodyPr vert="horz" wrap="square" lIns="0" tIns="1016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/>
              <a:t>ECE484</a:t>
            </a:r>
          </a:p>
        </p:txBody>
      </p:sp>
    </p:spTree>
    <p:extLst>
      <p:ext uri="{BB962C8B-B14F-4D97-AF65-F5344CB8AC3E}">
        <p14:creationId xmlns:p14="http://schemas.microsoft.com/office/powerpoint/2010/main" val="2359275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/>
              <a:t>Metrics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16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843140" y="1449868"/>
            <a:ext cx="9736455" cy="1149033"/>
          </a:xfrm>
          <a:prstGeom prst="rect">
            <a:avLst/>
          </a:prstGeom>
        </p:spPr>
        <p:txBody>
          <a:bodyPr vert="horz" wrap="square" lIns="0" tIns="48260" rIns="0" bIns="0" rtlCol="0" anchor="t">
            <a:spAutoFit/>
          </a:bodyPr>
          <a:lstStyle/>
          <a:p>
            <a:pPr marL="355600" marR="5080" indent="-343535">
              <a:lnSpc>
                <a:spcPts val="2180"/>
              </a:lnSpc>
              <a:spcBef>
                <a:spcPts val="380"/>
              </a:spcBef>
              <a:buFont typeface="Arial"/>
              <a:buChar char="•"/>
              <a:tabLst>
                <a:tab pos="355600" algn="l"/>
              </a:tabLst>
            </a:pPr>
            <a:r>
              <a:rPr sz="2400">
                <a:solidFill>
                  <a:srgbClr val="12294A"/>
                </a:solidFill>
                <a:latin typeface="Source Sans 3"/>
                <a:cs typeface="Source Sans 3"/>
              </a:rPr>
              <a:t>Position</a:t>
            </a:r>
            <a:r>
              <a:rPr sz="2400" spc="-55">
                <a:solidFill>
                  <a:srgbClr val="12294A"/>
                </a:solidFill>
                <a:latin typeface="Source Sans 3"/>
                <a:cs typeface="Source Sans 3"/>
              </a:rPr>
              <a:t> </a:t>
            </a:r>
            <a:r>
              <a:rPr sz="2400">
                <a:solidFill>
                  <a:srgbClr val="12294A"/>
                </a:solidFill>
                <a:latin typeface="Source Sans 3"/>
                <a:cs typeface="Source Sans 3"/>
              </a:rPr>
              <a:t>estimation</a:t>
            </a:r>
            <a:r>
              <a:rPr sz="2400" spc="-50">
                <a:solidFill>
                  <a:srgbClr val="12294A"/>
                </a:solidFill>
                <a:latin typeface="Source Sans 3"/>
                <a:cs typeface="Source Sans 3"/>
              </a:rPr>
              <a:t> </a:t>
            </a:r>
            <a:r>
              <a:rPr sz="2400">
                <a:solidFill>
                  <a:srgbClr val="12294A"/>
                </a:solidFill>
                <a:latin typeface="Source Sans 3"/>
                <a:cs typeface="Source Sans 3"/>
              </a:rPr>
              <a:t>error:</a:t>
            </a:r>
            <a:r>
              <a:rPr lang="en-US" sz="2400">
                <a:solidFill>
                  <a:srgbClr val="12294A"/>
                </a:solidFill>
                <a:latin typeface="Source Sans 3"/>
                <a:cs typeface="Source Sans 3"/>
              </a:rPr>
              <a:t> X/Y/Z errors with reference to Ground Truth</a:t>
            </a:r>
            <a:endParaRPr sz="2400">
              <a:latin typeface="Source Sans 3"/>
              <a:cs typeface="Source Sans 3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lang="en-US" sz="2400">
                <a:solidFill>
                  <a:srgbClr val="12294A"/>
                </a:solidFill>
                <a:latin typeface="Source Sans 3"/>
                <a:cs typeface="Source Sans 3"/>
              </a:rPr>
              <a:t>RMSE (Root mean square error) with reference to ground truth</a:t>
            </a:r>
            <a:endParaRPr sz="2400">
              <a:latin typeface="Source Sans 3"/>
              <a:cs typeface="Source Sans 3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12294A"/>
              </a:buClr>
              <a:buFont typeface="Arial"/>
              <a:buChar char="•"/>
            </a:pPr>
            <a:endParaRPr sz="2000">
              <a:latin typeface="Source Sans 3"/>
              <a:cs typeface="Source Sans 3"/>
            </a:endParaRPr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03A15D2-EB23-D712-413A-C445DA7CB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367" y="2255559"/>
            <a:ext cx="7743265" cy="3801696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A42668A-A7FC-51CB-F536-C44E0B73286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6257" y="6437625"/>
            <a:ext cx="3396316" cy="194925"/>
          </a:xfrm>
          <a:prstGeom prst="rect">
            <a:avLst/>
          </a:prstGeom>
        </p:spPr>
        <p:txBody>
          <a:bodyPr vert="horz" wrap="square" lIns="0" tIns="1016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/>
              <a:t>ECE484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/>
              <a:t>Grading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25" dirty="0"/>
              <a:t>17</a:t>
            </a:fld>
            <a:endParaRPr spc="-25"/>
          </a:p>
        </p:txBody>
      </p:sp>
      <p:sp>
        <p:nvSpPr>
          <p:cNvPr id="3" name="object 3"/>
          <p:cNvSpPr txBox="1"/>
          <p:nvPr/>
        </p:nvSpPr>
        <p:spPr>
          <a:xfrm>
            <a:off x="731837" y="1692084"/>
            <a:ext cx="2604135" cy="1506823"/>
          </a:xfrm>
          <a:prstGeom prst="rect">
            <a:avLst/>
          </a:prstGeom>
        </p:spPr>
        <p:txBody>
          <a:bodyPr vert="horz" wrap="square" lIns="0" tIns="107950" rIns="0" bIns="0" rtlCol="0" anchor="t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355600" algn="l"/>
              </a:tabLst>
            </a:pPr>
            <a:r>
              <a:rPr sz="2000">
                <a:solidFill>
                  <a:srgbClr val="12294A"/>
                </a:solidFill>
                <a:latin typeface="Source Sans 3"/>
                <a:cs typeface="Source Sans 3"/>
              </a:rPr>
              <a:t>HW</a:t>
            </a:r>
            <a:r>
              <a:rPr sz="2000" spc="-25">
                <a:solidFill>
                  <a:srgbClr val="12294A"/>
                </a:solidFill>
                <a:latin typeface="Source Sans 3"/>
                <a:cs typeface="Source Sans 3"/>
              </a:rPr>
              <a:t> </a:t>
            </a:r>
            <a:r>
              <a:rPr sz="2000">
                <a:solidFill>
                  <a:srgbClr val="12294A"/>
                </a:solidFill>
                <a:latin typeface="Source Sans 3"/>
                <a:cs typeface="Source Sans 3"/>
              </a:rPr>
              <a:t>(100</a:t>
            </a:r>
            <a:r>
              <a:rPr sz="2000" spc="-30">
                <a:solidFill>
                  <a:srgbClr val="12294A"/>
                </a:solidFill>
                <a:latin typeface="Source Sans 3"/>
                <a:cs typeface="Source Sans 3"/>
              </a:rPr>
              <a:t> </a:t>
            </a:r>
            <a:r>
              <a:rPr sz="2000" spc="-20">
                <a:solidFill>
                  <a:srgbClr val="12294A"/>
                </a:solidFill>
                <a:latin typeface="Source Sans 3"/>
                <a:cs typeface="Source Sans 3"/>
              </a:rPr>
              <a:t>pts)</a:t>
            </a:r>
            <a:endParaRPr sz="2000">
              <a:latin typeface="Source Sans 3"/>
              <a:cs typeface="Source Sans 3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355600" algn="l"/>
              </a:tabLst>
            </a:pPr>
            <a:r>
              <a:rPr sz="2000">
                <a:solidFill>
                  <a:srgbClr val="12294A"/>
                </a:solidFill>
                <a:latin typeface="Source Sans 3"/>
                <a:cs typeface="Source Sans 3"/>
              </a:rPr>
              <a:t>MP3</a:t>
            </a:r>
            <a:r>
              <a:rPr sz="2000" spc="-50">
                <a:solidFill>
                  <a:srgbClr val="12294A"/>
                </a:solidFill>
                <a:latin typeface="Source Sans 3"/>
                <a:cs typeface="Source Sans 3"/>
              </a:rPr>
              <a:t> </a:t>
            </a:r>
            <a:r>
              <a:rPr sz="2000" spc="-10">
                <a:solidFill>
                  <a:srgbClr val="12294A"/>
                </a:solidFill>
                <a:latin typeface="Source Sans 3"/>
                <a:cs typeface="Source Sans 3"/>
              </a:rPr>
              <a:t>(1</a:t>
            </a:r>
            <a:r>
              <a:rPr lang="en-US" sz="2000" spc="-10">
                <a:solidFill>
                  <a:srgbClr val="12294A"/>
                </a:solidFill>
                <a:latin typeface="Source Sans 3"/>
                <a:cs typeface="Source Sans 3"/>
              </a:rPr>
              <a:t>0</a:t>
            </a:r>
            <a:r>
              <a:rPr sz="2000" spc="-10">
                <a:solidFill>
                  <a:srgbClr val="12294A"/>
                </a:solidFill>
                <a:latin typeface="Source Sans 3"/>
                <a:cs typeface="Source Sans 3"/>
              </a:rPr>
              <a:t>0pts)</a:t>
            </a:r>
            <a:endParaRPr sz="2000">
              <a:latin typeface="Source Sans 3"/>
              <a:cs typeface="Source Sans 3"/>
            </a:endParaRPr>
          </a:p>
          <a:p>
            <a:pPr marL="1042035" lvl="1" indent="-343535">
              <a:lnSpc>
                <a:spcPct val="100000"/>
              </a:lnSpc>
              <a:spcBef>
                <a:spcPts val="225"/>
              </a:spcBef>
              <a:buFont typeface="Arial"/>
              <a:buChar char="•"/>
              <a:tabLst>
                <a:tab pos="1042035" algn="l"/>
              </a:tabLst>
            </a:pPr>
            <a:r>
              <a:rPr sz="2000">
                <a:solidFill>
                  <a:srgbClr val="12294A"/>
                </a:solidFill>
                <a:latin typeface="Source Sans 3"/>
                <a:cs typeface="Source Sans 3"/>
              </a:rPr>
              <a:t>Report</a:t>
            </a:r>
            <a:r>
              <a:rPr sz="2000" spc="-40">
                <a:solidFill>
                  <a:srgbClr val="12294A"/>
                </a:solidFill>
                <a:latin typeface="Source Sans 3"/>
                <a:cs typeface="Source Sans 3"/>
              </a:rPr>
              <a:t> </a:t>
            </a:r>
            <a:r>
              <a:rPr lang="en-US" sz="2000" spc="-40">
                <a:solidFill>
                  <a:srgbClr val="12294A"/>
                </a:solidFill>
                <a:latin typeface="Source Sans 3"/>
                <a:cs typeface="Source Sans 3"/>
              </a:rPr>
              <a:t>8</a:t>
            </a:r>
            <a:r>
              <a:rPr lang="en-US" sz="2000">
                <a:solidFill>
                  <a:srgbClr val="12294A"/>
                </a:solidFill>
                <a:latin typeface="Source Sans 3"/>
                <a:cs typeface="Source Sans 3"/>
              </a:rPr>
              <a:t>0</a:t>
            </a:r>
            <a:r>
              <a:rPr sz="2000" spc="10">
                <a:solidFill>
                  <a:srgbClr val="12294A"/>
                </a:solidFill>
                <a:latin typeface="Source Sans 3"/>
                <a:cs typeface="Source Sans 3"/>
              </a:rPr>
              <a:t> </a:t>
            </a:r>
            <a:r>
              <a:rPr sz="2000" spc="-25">
                <a:solidFill>
                  <a:srgbClr val="12294A"/>
                </a:solidFill>
                <a:latin typeface="Source Sans 3"/>
                <a:cs typeface="Source Sans 3"/>
              </a:rPr>
              <a:t>pts</a:t>
            </a:r>
            <a:endParaRPr sz="2000">
              <a:latin typeface="Source Sans 3"/>
              <a:cs typeface="Source Sans 3"/>
            </a:endParaRPr>
          </a:p>
          <a:p>
            <a:pPr marL="1042035" lvl="1" indent="-343535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1042035" algn="l"/>
              </a:tabLst>
            </a:pPr>
            <a:r>
              <a:rPr sz="2000">
                <a:solidFill>
                  <a:srgbClr val="12294A"/>
                </a:solidFill>
                <a:latin typeface="Source Sans 3"/>
                <a:cs typeface="Source Sans 3"/>
              </a:rPr>
              <a:t>Demo</a:t>
            </a:r>
            <a:r>
              <a:rPr sz="2000" spc="-10">
                <a:solidFill>
                  <a:srgbClr val="12294A"/>
                </a:solidFill>
                <a:latin typeface="Source Sans 3"/>
                <a:cs typeface="Source Sans 3"/>
              </a:rPr>
              <a:t> </a:t>
            </a:r>
            <a:r>
              <a:rPr lang="en-US" sz="2000" spc="-10">
                <a:solidFill>
                  <a:srgbClr val="12294A"/>
                </a:solidFill>
                <a:latin typeface="Source Sans 3"/>
                <a:cs typeface="Source Sans 3"/>
              </a:rPr>
              <a:t>2</a:t>
            </a:r>
            <a:r>
              <a:rPr lang="en-US" sz="2000">
                <a:solidFill>
                  <a:srgbClr val="12294A"/>
                </a:solidFill>
                <a:latin typeface="Source Sans 3"/>
                <a:cs typeface="Source Sans 3"/>
              </a:rPr>
              <a:t>0</a:t>
            </a:r>
            <a:r>
              <a:rPr sz="2000">
                <a:solidFill>
                  <a:srgbClr val="12294A"/>
                </a:solidFill>
                <a:latin typeface="Source Sans 3"/>
                <a:cs typeface="Source Sans 3"/>
              </a:rPr>
              <a:t> </a:t>
            </a:r>
            <a:r>
              <a:rPr sz="2000" spc="-25">
                <a:solidFill>
                  <a:srgbClr val="12294A"/>
                </a:solidFill>
                <a:latin typeface="Source Sans 3"/>
                <a:cs typeface="Source Sans 3"/>
              </a:rPr>
              <a:t>pts</a:t>
            </a:r>
            <a:endParaRPr sz="2000">
              <a:latin typeface="Source Sans 3"/>
              <a:cs typeface="Source Sans 3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457E8C21-B4E7-DDF2-3D7C-0737519EE05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6257" y="6437625"/>
            <a:ext cx="3396316" cy="194925"/>
          </a:xfrm>
          <a:prstGeom prst="rect">
            <a:avLst/>
          </a:prstGeom>
        </p:spPr>
        <p:txBody>
          <a:bodyPr vert="horz" wrap="square" lIns="0" tIns="1016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lang="en-US"/>
              <a:t>ECE484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 descr="A picture containing text, clipart  Description automatically generate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9925" y="2676525"/>
              <a:ext cx="5772150" cy="15049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18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ECE484 FA26 MP3 Walkthrough Drone Kalman Filter Localization </vt:lpstr>
      <vt:lpstr>Outline</vt:lpstr>
      <vt:lpstr>MP3 Pipeline</vt:lpstr>
      <vt:lpstr>Kalman Filter Background</vt:lpstr>
      <vt:lpstr>Kalman Filter Background </vt:lpstr>
      <vt:lpstr>Image Processing and Perspective-N-Points (PnP)</vt:lpstr>
      <vt:lpstr>Coordinate Frames</vt:lpstr>
      <vt:lpstr>Image Processing: project_points() </vt:lpstr>
      <vt:lpstr>Image Processing: project_position_uncertainty()</vt:lpstr>
      <vt:lpstr>Image Processing: associate_detections() </vt:lpstr>
      <vt:lpstr>PnP Data Augmentation</vt:lpstr>
      <vt:lpstr>Kalman Filter</vt:lpstr>
      <vt:lpstr>Prediction Step (On VIO Odometry input) </vt:lpstr>
      <vt:lpstr>Update/Correction Step (On PnP pose input)</vt:lpstr>
      <vt:lpstr>Rosbag/Gazebo</vt:lpstr>
      <vt:lpstr>Metrics</vt:lpstr>
      <vt:lpstr>Grading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Fallon Liu</dc:creator>
  <cp:revision>4</cp:revision>
  <dcterms:created xsi:type="dcterms:W3CDTF">2026-03-12T20:59:11Z</dcterms:created>
  <dcterms:modified xsi:type="dcterms:W3CDTF">2026-10-16T14:31:46Z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2025-03-28T00:00:00Z</vt:filetime>
  </property>
  <property fmtid="{D5CDD505-2E9C-101B-9397-08002B2CF9AE}" pid="3" name="LastSaved">
    <vt:filetime>2026-03-12T00:00:00Z</vt:filetime>
  </property>
</Properties>
</file>